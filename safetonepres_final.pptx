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19"/>
  </p:notesMasterIdLst>
  <p:handoutMasterIdLst>
    <p:handoutMasterId r:id="rId20"/>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x="14630400" cy="8229600"/>
  <p:notesSz cx="8229600" cy="14630400"/>
  <p:embeddedFontLst>
    <p:embeddedFont>
      <p:font typeface="Open Sans" panose="020B0606030504020204" pitchFamily="3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DDD7"/>
    <a:srgbClr val="8EF9FC"/>
    <a:srgbClr val="C6E0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50A35B-B649-39C8-7920-DC13E01E4FCF}" v="96" dt="2026-01-10T10:45:55.137"/>
    <p1510:client id="{2841F73F-D7AA-68AD-2D84-BACD97A5B657}" v="3" dt="2026-01-09T16:34:41.400"/>
    <p1510:client id="{A6A87D44-6F46-A857-C5E0-8C881C41797C}" v="1" dt="2026-01-09T16:33:34.223"/>
    <p1510:client id="{FC93A6B6-EA42-49BB-A43B-7FC3A928A5AC}" v="13" dt="2026-01-10T10:56:38.1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83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font" Target="fonts/font1.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6003DB6-BDF2-B88B-3677-E3274812B99A}"/>
              </a:ext>
            </a:extLst>
          </p:cNvPr>
          <p:cNvSpPr>
            <a:spLocks noGrp="1"/>
          </p:cNvSpPr>
          <p:nvPr>
            <p:ph type="hdr" sz="quarter"/>
          </p:nvPr>
        </p:nvSpPr>
        <p:spPr>
          <a:xfrm>
            <a:off x="0" y="0"/>
            <a:ext cx="3565525" cy="7334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22260CE-450A-96F3-960B-64A325552E30}"/>
              </a:ext>
            </a:extLst>
          </p:cNvPr>
          <p:cNvSpPr>
            <a:spLocks noGrp="1"/>
          </p:cNvSpPr>
          <p:nvPr>
            <p:ph type="dt" sz="quarter" idx="1"/>
          </p:nvPr>
        </p:nvSpPr>
        <p:spPr>
          <a:xfrm>
            <a:off x="4660900" y="0"/>
            <a:ext cx="3567113" cy="733425"/>
          </a:xfrm>
          <a:prstGeom prst="rect">
            <a:avLst/>
          </a:prstGeom>
        </p:spPr>
        <p:txBody>
          <a:bodyPr vert="horz" lIns="91440" tIns="45720" rIns="91440" bIns="45720" rtlCol="0"/>
          <a:lstStyle>
            <a:lvl1pPr algn="r">
              <a:defRPr sz="1200"/>
            </a:lvl1pPr>
          </a:lstStyle>
          <a:p>
            <a:fld id="{B56F17D2-B538-4857-B103-D5B8D90F0136}" type="datetimeFigureOut">
              <a:rPr lang="en-US" smtClean="0"/>
              <a:t>1/10/2026</a:t>
            </a:fld>
            <a:endParaRPr lang="en-US"/>
          </a:p>
        </p:txBody>
      </p:sp>
      <p:sp>
        <p:nvSpPr>
          <p:cNvPr id="4" name="Footer Placeholder 3">
            <a:extLst>
              <a:ext uri="{FF2B5EF4-FFF2-40B4-BE49-F238E27FC236}">
                <a16:creationId xmlns:a16="http://schemas.microsoft.com/office/drawing/2014/main" id="{3FE922D2-5341-01FD-37B9-278E2B6441E8}"/>
              </a:ext>
            </a:extLst>
          </p:cNvPr>
          <p:cNvSpPr>
            <a:spLocks noGrp="1"/>
          </p:cNvSpPr>
          <p:nvPr>
            <p:ph type="ftr" sz="quarter" idx="2"/>
          </p:nvPr>
        </p:nvSpPr>
        <p:spPr>
          <a:xfrm>
            <a:off x="0" y="13896975"/>
            <a:ext cx="3565525" cy="733425"/>
          </a:xfrm>
          <a:prstGeom prst="rect">
            <a:avLst/>
          </a:prstGeom>
        </p:spPr>
        <p:txBody>
          <a:bodyPr vert="horz" lIns="91440" tIns="45720" rIns="91440" bIns="45720" rtlCol="0" anchor="b"/>
          <a:lstStyle>
            <a:lvl1pPr algn="l">
              <a:defRPr sz="1200"/>
            </a:lvl1pPr>
          </a:lstStyle>
          <a:p>
            <a:r>
              <a:rPr lang="en-US"/>
              <a:t>1, 2, 3, 4, 5, 6, 7, 8, 9, 10, 11, 12 , 13 ,14</a:t>
            </a:r>
          </a:p>
        </p:txBody>
      </p:sp>
      <p:sp>
        <p:nvSpPr>
          <p:cNvPr id="5" name="Slide Number Placeholder 4">
            <a:extLst>
              <a:ext uri="{FF2B5EF4-FFF2-40B4-BE49-F238E27FC236}">
                <a16:creationId xmlns:a16="http://schemas.microsoft.com/office/drawing/2014/main" id="{A9246F8A-F683-3327-C649-FE54AB695BCA}"/>
              </a:ext>
            </a:extLst>
          </p:cNvPr>
          <p:cNvSpPr>
            <a:spLocks noGrp="1"/>
          </p:cNvSpPr>
          <p:nvPr>
            <p:ph type="sldNum" sz="quarter" idx="3"/>
          </p:nvPr>
        </p:nvSpPr>
        <p:spPr>
          <a:xfrm>
            <a:off x="4660900" y="13896975"/>
            <a:ext cx="3567113" cy="733425"/>
          </a:xfrm>
          <a:prstGeom prst="rect">
            <a:avLst/>
          </a:prstGeom>
        </p:spPr>
        <p:txBody>
          <a:bodyPr vert="horz" lIns="91440" tIns="45720" rIns="91440" bIns="45720" rtlCol="0" anchor="b"/>
          <a:lstStyle>
            <a:lvl1pPr algn="r">
              <a:defRPr sz="1200"/>
            </a:lvl1pPr>
          </a:lstStyle>
          <a:p>
            <a:fld id="{A22010F0-AF0A-447E-A01D-63253D64A8FE}" type="slidenum">
              <a:rPr lang="en-US" smtClean="0"/>
              <a:t>‹#›</a:t>
            </a:fld>
            <a:endParaRPr lang="en-US"/>
          </a:p>
        </p:txBody>
      </p:sp>
    </p:spTree>
    <p:extLst>
      <p:ext uri="{BB962C8B-B14F-4D97-AF65-F5344CB8AC3E}">
        <p14:creationId xmlns:p14="http://schemas.microsoft.com/office/powerpoint/2010/main" val="289457555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7332432"/>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6F5EE"/>
          </a:solidFill>
          <a:ln/>
        </p:spPr>
        <p:txBody>
          <a:bodyPr/>
          <a:lstStyle/>
          <a:p>
            <a:endParaRPr/>
          </a:p>
        </p:txBody>
      </p:sp>
      <p:sp>
        <p:nvSpPr>
          <p:cNvPr id="3" name="Shape 1"/>
          <p:cNvSpPr/>
          <p:nvPr/>
        </p:nvSpPr>
        <p:spPr>
          <a:xfrm>
            <a:off x="0" y="0"/>
            <a:ext cx="14630400" cy="8229600"/>
          </a:xfrm>
          <a:prstGeom prst="rect">
            <a:avLst/>
          </a:prstGeom>
          <a:solidFill>
            <a:srgbClr val="FFFFFF"/>
          </a:solidFill>
          <a:ln/>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20.png"/><Relationship Id="rId4" Type="http://schemas.openxmlformats.org/officeDocument/2006/relationships/image" Target="../media/image19.sv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10.xml"/><Relationship Id="rId1" Type="http://schemas.openxmlformats.org/officeDocument/2006/relationships/slideLayout" Target="../slideLayouts/slideLayout11.xml"/><Relationship Id="rId6" Type="http://schemas.openxmlformats.org/officeDocument/2006/relationships/image" Target="../media/image25.png"/><Relationship Id="rId11" Type="http://schemas.openxmlformats.org/officeDocument/2006/relationships/image" Target="../media/image30.svg"/><Relationship Id="rId5" Type="http://schemas.openxmlformats.org/officeDocument/2006/relationships/image" Target="../media/image24.sv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sv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3.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8" Type="http://schemas.openxmlformats.org/officeDocument/2006/relationships/image" Target="../media/image40.sv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4.xml"/><Relationship Id="rId6" Type="http://schemas.openxmlformats.org/officeDocument/2006/relationships/image" Target="../media/image38.sv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s>
</file>

<file path=ppt/slides/_rels/slide1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82748"/>
            <a:ext cx="7556421" cy="2835116"/>
          </a:xfrm>
          <a:prstGeom prst="rect">
            <a:avLst/>
          </a:prstGeom>
          <a:noFill/>
          <a:ln/>
        </p:spPr>
        <p:txBody>
          <a:bodyPr wrap="square" lIns="0" tIns="0" rIns="0" bIns="0" rtlCol="0" anchor="t"/>
          <a:lstStyle/>
          <a:p>
            <a:pPr marL="0" indent="0" algn="l">
              <a:lnSpc>
                <a:spcPts val="5550"/>
              </a:lnSpc>
              <a:buNone/>
            </a:pPr>
            <a:r>
              <a:rPr lang="en-US" sz="4450" b="1">
                <a:solidFill>
                  <a:srgbClr val="333F70"/>
                </a:solidFill>
                <a:latin typeface="Unbounded Bold" pitchFamily="34" charset="0"/>
                <a:ea typeface="Unbounded Bold" pitchFamily="34" charset="-122"/>
                <a:cs typeface="Unbounded Bold" pitchFamily="34" charset="-120"/>
              </a:rPr>
              <a:t>SafeTone: Audio Deepfake Detection Using Convolutional Neural Networks</a:t>
            </a:r>
            <a:endParaRPr lang="en-US" sz="4450"/>
          </a:p>
        </p:txBody>
      </p:sp>
      <p:sp>
        <p:nvSpPr>
          <p:cNvPr id="4" name="Text 1"/>
          <p:cNvSpPr/>
          <p:nvPr/>
        </p:nvSpPr>
        <p:spPr>
          <a:xfrm>
            <a:off x="6280190" y="5158026"/>
            <a:ext cx="7556421" cy="1088708"/>
          </a:xfrm>
          <a:prstGeom prst="rect">
            <a:avLst/>
          </a:prstGeom>
          <a:noFill/>
          <a:ln/>
        </p:spPr>
        <p:txBody>
          <a:bodyPr wrap="square" lIns="0" tIns="0" rIns="0" bIns="0" rtlCol="0" anchor="t"/>
          <a:lstStyle/>
          <a:p>
            <a:pPr marL="0" indent="0" algn="l">
              <a:lnSpc>
                <a:spcPts val="2850"/>
              </a:lnSpc>
              <a:buNone/>
            </a:pPr>
            <a:r>
              <a:rPr lang="en-US" sz="1750">
                <a:solidFill>
                  <a:srgbClr val="333F70"/>
                </a:solidFill>
                <a:latin typeface="Open Sans" pitchFamily="34" charset="0"/>
                <a:ea typeface="Open Sans" pitchFamily="34" charset="-122"/>
                <a:cs typeface="Open Sans" pitchFamily="34" charset="-120"/>
              </a:rPr>
              <a:t>Graduation Project | Artificial Intelligence Department</a:t>
            </a:r>
            <a:endParaRPr lang="en-US" sz="1750"/>
          </a:p>
          <a:p>
            <a:pPr marL="0" indent="0" algn="l">
              <a:lnSpc>
                <a:spcPts val="2850"/>
              </a:lnSpc>
              <a:buNone/>
            </a:pPr>
            <a:r>
              <a:rPr lang="en-US" sz="1750">
                <a:solidFill>
                  <a:srgbClr val="333F70"/>
                </a:solidFill>
                <a:latin typeface="Open Sans" pitchFamily="34" charset="0"/>
                <a:ea typeface="Open Sans" pitchFamily="34" charset="-122"/>
                <a:cs typeface="Open Sans" pitchFamily="34" charset="-120"/>
              </a:rPr>
              <a:t>Faculty of Information Technology, Zarqa University</a:t>
            </a:r>
            <a:endParaRPr lang="en-US" sz="1750"/>
          </a:p>
          <a:p>
            <a:pPr marL="0" indent="0" algn="l">
              <a:lnSpc>
                <a:spcPts val="2850"/>
              </a:lnSpc>
              <a:buNone/>
            </a:pPr>
            <a:r>
              <a:rPr lang="en-US" sz="1750">
                <a:solidFill>
                  <a:srgbClr val="333F70"/>
                </a:solidFill>
                <a:latin typeface="Open Sans" pitchFamily="34" charset="0"/>
                <a:ea typeface="Open Sans" pitchFamily="34" charset="-122"/>
                <a:cs typeface="Open Sans" pitchFamily="34" charset="-120"/>
              </a:rPr>
              <a:t>Supervisor: Dr. Mosab Igtait | Academic Year: 2025/2026</a:t>
            </a:r>
            <a:endParaRPr lang="en-US" sz="17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54474" y="435650"/>
            <a:ext cx="1057870" cy="297894"/>
          </a:xfrm>
          <a:prstGeom prst="roundRect">
            <a:avLst>
              <a:gd name="adj" fmla="val 17872"/>
            </a:avLst>
          </a:prstGeom>
          <a:solidFill>
            <a:srgbClr val="D6F5EE"/>
          </a:solidFill>
          <a:ln/>
        </p:spPr>
        <p:txBody>
          <a:bodyPr/>
          <a:lstStyle/>
          <a:p>
            <a:endParaRPr lang="en-US"/>
          </a:p>
        </p:txBody>
      </p:sp>
      <p:sp>
        <p:nvSpPr>
          <p:cNvPr id="3" name="Text 1"/>
          <p:cNvSpPr/>
          <p:nvPr/>
        </p:nvSpPr>
        <p:spPr>
          <a:xfrm>
            <a:off x="649486" y="483156"/>
            <a:ext cx="867847" cy="202883"/>
          </a:xfrm>
          <a:prstGeom prst="rect">
            <a:avLst/>
          </a:prstGeom>
          <a:noFill/>
          <a:ln/>
        </p:spPr>
        <p:txBody>
          <a:bodyPr wrap="none" lIns="0" tIns="0" rIns="0" bIns="0" rtlCol="0" anchor="t"/>
          <a:lstStyle/>
          <a:p>
            <a:pPr marL="0" indent="0" algn="l">
              <a:lnSpc>
                <a:spcPts val="1550"/>
              </a:lnSpc>
              <a:buNone/>
            </a:pPr>
            <a:r>
              <a:rPr lang="en-US" sz="950">
                <a:solidFill>
                  <a:srgbClr val="333F70"/>
                </a:solidFill>
                <a:latin typeface="Open Sans" pitchFamily="34" charset="0"/>
                <a:ea typeface="Open Sans" pitchFamily="34" charset="-122"/>
                <a:cs typeface="Open Sans" pitchFamily="34" charset="-120"/>
              </a:rPr>
              <a:t>BACKGROUND</a:t>
            </a:r>
            <a:endParaRPr lang="en-US" sz="950"/>
          </a:p>
        </p:txBody>
      </p:sp>
      <p:sp>
        <p:nvSpPr>
          <p:cNvPr id="4" name="Text 2"/>
          <p:cNvSpPr/>
          <p:nvPr/>
        </p:nvSpPr>
        <p:spPr>
          <a:xfrm>
            <a:off x="554474" y="796885"/>
            <a:ext cx="9267230" cy="495062"/>
          </a:xfrm>
          <a:prstGeom prst="rect">
            <a:avLst/>
          </a:prstGeom>
          <a:noFill/>
          <a:ln/>
        </p:spPr>
        <p:txBody>
          <a:bodyPr wrap="none" lIns="0" tIns="0" rIns="0" bIns="0" rtlCol="0" anchor="t"/>
          <a:lstStyle/>
          <a:p>
            <a:pPr marL="0" indent="0" algn="l">
              <a:lnSpc>
                <a:spcPts val="3850"/>
              </a:lnSpc>
              <a:buNone/>
            </a:pPr>
            <a:r>
              <a:rPr lang="en-US" sz="3100" b="1">
                <a:solidFill>
                  <a:srgbClr val="333F70"/>
                </a:solidFill>
                <a:latin typeface="Unbounded Bold" pitchFamily="34" charset="0"/>
                <a:ea typeface="Unbounded Bold" pitchFamily="34" charset="-122"/>
                <a:cs typeface="Unbounded Bold" pitchFamily="34" charset="-120"/>
              </a:rPr>
              <a:t>The Rising Threat of Audio Deepfakes</a:t>
            </a:r>
            <a:endParaRPr lang="en-US" sz="3100"/>
          </a:p>
        </p:txBody>
      </p:sp>
      <p:sp>
        <p:nvSpPr>
          <p:cNvPr id="5" name="Text 3"/>
          <p:cNvSpPr/>
          <p:nvPr/>
        </p:nvSpPr>
        <p:spPr>
          <a:xfrm>
            <a:off x="554474" y="1672114"/>
            <a:ext cx="6567487" cy="1013936"/>
          </a:xfrm>
          <a:prstGeom prst="rect">
            <a:avLst/>
          </a:prstGeom>
          <a:noFill/>
          <a:ln/>
        </p:spPr>
        <p:txBody>
          <a:bodyPr wrap="square" lIns="0" tIns="0" rIns="0" bIns="0" rtlCol="0" anchor="t"/>
          <a:lstStyle/>
          <a:p>
            <a:pPr marL="0" indent="0" algn="l">
              <a:lnSpc>
                <a:spcPts val="1950"/>
              </a:lnSpc>
              <a:buNone/>
            </a:pPr>
            <a:r>
              <a:rPr lang="en-US">
                <a:solidFill>
                  <a:srgbClr val="333F70"/>
                </a:solidFill>
                <a:latin typeface="Open Sans"/>
                <a:ea typeface="Open Sans"/>
                <a:cs typeface="Open Sans"/>
              </a:rPr>
              <a:t>Recent advances in artificial intelligence have enabled the generation of highly realistic synthetic speech that is virtually indistinguishable from authentic human voices. This technological capability introduces significant security vulnerabilities across multiple domains.</a:t>
            </a:r>
            <a:endParaRPr lang="en-US">
              <a:latin typeface="Open Sans"/>
              <a:ea typeface="Open Sans"/>
              <a:cs typeface="Open Sans"/>
            </a:endParaRPr>
          </a:p>
        </p:txBody>
      </p:sp>
      <p:sp>
        <p:nvSpPr>
          <p:cNvPr id="6" name="Text 4"/>
          <p:cNvSpPr/>
          <p:nvPr/>
        </p:nvSpPr>
        <p:spPr>
          <a:xfrm>
            <a:off x="554474" y="3359909"/>
            <a:ext cx="6567487" cy="760452"/>
          </a:xfrm>
          <a:prstGeom prst="rect">
            <a:avLst/>
          </a:prstGeom>
          <a:noFill/>
          <a:ln/>
        </p:spPr>
        <p:txBody>
          <a:bodyPr wrap="square" lIns="0" tIns="0" rIns="0" bIns="0" rtlCol="0" anchor="t"/>
          <a:lstStyle/>
          <a:p>
            <a:pPr marL="0" indent="0" algn="l">
              <a:lnSpc>
                <a:spcPts val="1950"/>
              </a:lnSpc>
              <a:buNone/>
            </a:pPr>
            <a:r>
              <a:rPr lang="en-US">
                <a:solidFill>
                  <a:srgbClr val="333F70"/>
                </a:solidFill>
                <a:latin typeface="Open Sans"/>
                <a:ea typeface="Open Sans"/>
                <a:cs typeface="Open Sans"/>
              </a:rPr>
              <a:t>Audio deepfakes now pose critical risks to voice authentication systems, financial transactions, and digital identity verification. Traditional detection methods relying on human perception have proven insufficient against these sophisticated forgeries</a:t>
            </a:r>
            <a:r>
              <a:rPr lang="en-US" sz="1400">
                <a:solidFill>
                  <a:srgbClr val="333F70"/>
                </a:solidFill>
                <a:latin typeface="Open Sans"/>
                <a:ea typeface="Open Sans"/>
                <a:cs typeface="Open Sans"/>
              </a:rPr>
              <a:t>.</a:t>
            </a:r>
            <a:endParaRPr lang="en-US" sz="1400">
              <a:latin typeface="Open Sans"/>
              <a:ea typeface="Open Sans"/>
              <a:cs typeface="Open Sans"/>
            </a:endParaRPr>
          </a:p>
        </p:txBody>
      </p:sp>
      <p:pic>
        <p:nvPicPr>
          <p:cNvPr id="7" name="Image 0" descr="preencoded.png"/>
          <p:cNvPicPr>
            <a:picLocks noChangeAspect="1"/>
          </p:cNvPicPr>
          <p:nvPr/>
        </p:nvPicPr>
        <p:blipFill>
          <a:blip r:embed="rId3"/>
          <a:stretch>
            <a:fillRect/>
          </a:stretch>
        </p:blipFill>
        <p:spPr>
          <a:xfrm>
            <a:off x="7656735" y="584597"/>
            <a:ext cx="6567487" cy="6941618"/>
          </a:xfrm>
          <a:prstGeom prst="rect">
            <a:avLst/>
          </a:prstGeom>
        </p:spPr>
      </p:pic>
      <p:sp>
        <p:nvSpPr>
          <p:cNvPr id="8" name="Text 5"/>
          <p:cNvSpPr/>
          <p:nvPr/>
        </p:nvSpPr>
        <p:spPr>
          <a:xfrm>
            <a:off x="554474" y="8631793"/>
            <a:ext cx="13521452" cy="253484"/>
          </a:xfrm>
          <a:prstGeom prst="rect">
            <a:avLst/>
          </a:prstGeom>
          <a:noFill/>
          <a:ln/>
        </p:spPr>
        <p:txBody>
          <a:bodyPr wrap="none" lIns="0" tIns="0" rIns="0" bIns="0" rtlCol="0" anchor="t"/>
          <a:lstStyle/>
          <a:p>
            <a:pPr marL="0" indent="0" algn="l">
              <a:lnSpc>
                <a:spcPts val="1950"/>
              </a:lnSpc>
              <a:buNone/>
            </a:pPr>
            <a:r>
              <a:rPr lang="en-US" sz="1200">
                <a:solidFill>
                  <a:srgbClr val="333F70"/>
                </a:solidFill>
                <a:latin typeface="Open Sans" pitchFamily="34" charset="0"/>
                <a:ea typeface="Open Sans" pitchFamily="34" charset="-122"/>
                <a:cs typeface="Open Sans" pitchFamily="34" charset="-120"/>
              </a:rPr>
              <a:t>The urgent need for automated, AI-based detection systems has never been more apparent as synthetic speech technology continues to advance rapidly.</a:t>
            </a:r>
            <a:endParaRPr lang="en-US" sz="12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88802"/>
            <a:ext cx="7001589" cy="708779"/>
          </a:xfrm>
          <a:prstGeom prst="rect">
            <a:avLst/>
          </a:prstGeom>
          <a:noFill/>
          <a:ln/>
        </p:spPr>
        <p:txBody>
          <a:bodyPr wrap="none" lIns="0" tIns="0" rIns="0" bIns="0" rtlCol="0" anchor="t"/>
          <a:lstStyle/>
          <a:p>
            <a:pPr marL="0" indent="0" algn="l">
              <a:lnSpc>
                <a:spcPts val="5550"/>
              </a:lnSpc>
              <a:buNone/>
            </a:pPr>
            <a:r>
              <a:rPr lang="en-US" sz="4450" b="1">
                <a:solidFill>
                  <a:srgbClr val="333F70"/>
                </a:solidFill>
                <a:latin typeface="Unbounded Bold" pitchFamily="34" charset="0"/>
                <a:ea typeface="Unbounded Bold" pitchFamily="34" charset="-122"/>
                <a:cs typeface="Unbounded Bold" pitchFamily="34" charset="-120"/>
              </a:rPr>
              <a:t>Problem Statement</a:t>
            </a:r>
            <a:endParaRPr lang="en-US" sz="4450"/>
          </a:p>
        </p:txBody>
      </p:sp>
      <p:sp>
        <p:nvSpPr>
          <p:cNvPr id="4" name="Shape 1"/>
          <p:cNvSpPr/>
          <p:nvPr/>
        </p:nvSpPr>
        <p:spPr>
          <a:xfrm>
            <a:off x="6280190" y="1937742"/>
            <a:ext cx="3664744" cy="3491032"/>
          </a:xfrm>
          <a:prstGeom prst="roundRect">
            <a:avLst>
              <a:gd name="adj" fmla="val 2729"/>
            </a:avLst>
          </a:prstGeom>
          <a:solidFill>
            <a:srgbClr val="D6F5EE"/>
          </a:solidFill>
          <a:ln w="7620">
            <a:solidFill>
              <a:srgbClr val="BCDBD4"/>
            </a:solidFill>
            <a:prstDash val="solid"/>
          </a:ln>
        </p:spPr>
        <p:txBody>
          <a:bodyPr/>
          <a:lstStyle/>
          <a:p>
            <a:endParaRPr lang="en-US"/>
          </a:p>
        </p:txBody>
      </p:sp>
      <p:sp>
        <p:nvSpPr>
          <p:cNvPr id="5" name="Text 2"/>
          <p:cNvSpPr/>
          <p:nvPr/>
        </p:nvSpPr>
        <p:spPr>
          <a:xfrm>
            <a:off x="6514624" y="2172176"/>
            <a:ext cx="3195876" cy="708660"/>
          </a:xfrm>
          <a:prstGeom prst="rect">
            <a:avLst/>
          </a:prstGeom>
          <a:noFill/>
          <a:ln/>
        </p:spPr>
        <p:txBody>
          <a:bodyPr wrap="square" lIns="0" tIns="0" rIns="0" bIns="0" rtlCol="0" anchor="t"/>
          <a:lstStyle/>
          <a:p>
            <a:pPr marL="0" indent="0" algn="l">
              <a:lnSpc>
                <a:spcPts val="2750"/>
              </a:lnSpc>
              <a:buNone/>
            </a:pPr>
            <a:r>
              <a:rPr lang="en-US" sz="2200" b="1">
                <a:solidFill>
                  <a:srgbClr val="333F70"/>
                </a:solidFill>
                <a:latin typeface="Unbounded Bold" pitchFamily="34" charset="0"/>
                <a:ea typeface="Unbounded Bold" pitchFamily="34" charset="-122"/>
                <a:cs typeface="Unbounded Bold" pitchFamily="34" charset="-120"/>
              </a:rPr>
              <a:t>Detection Challenge</a:t>
            </a:r>
            <a:endParaRPr lang="en-US" sz="2200"/>
          </a:p>
        </p:txBody>
      </p:sp>
      <p:sp>
        <p:nvSpPr>
          <p:cNvPr id="6" name="Text 3"/>
          <p:cNvSpPr/>
          <p:nvPr/>
        </p:nvSpPr>
        <p:spPr>
          <a:xfrm>
            <a:off x="6514624" y="3016925"/>
            <a:ext cx="3195876" cy="2177415"/>
          </a:xfrm>
          <a:prstGeom prst="rect">
            <a:avLst/>
          </a:prstGeom>
          <a:noFill/>
          <a:ln/>
        </p:spPr>
        <p:txBody>
          <a:bodyPr wrap="square" lIns="0" tIns="0" rIns="0" bIns="0" rtlCol="0" anchor="t"/>
          <a:lstStyle/>
          <a:p>
            <a:pPr marL="0" indent="0" algn="l">
              <a:lnSpc>
                <a:spcPts val="2850"/>
              </a:lnSpc>
              <a:buNone/>
            </a:pPr>
            <a:r>
              <a:rPr lang="en-US" sz="1750">
                <a:solidFill>
                  <a:srgbClr val="333F70"/>
                </a:solidFill>
                <a:latin typeface="Open Sans" pitchFamily="34" charset="0"/>
                <a:ea typeface="Open Sans" pitchFamily="34" charset="-122"/>
                <a:cs typeface="Open Sans" pitchFamily="34" charset="-120"/>
              </a:rPr>
              <a:t>Modern synthetic speech exhibits acoustic properties that closely mimic genuine human voices, making manual identification nearly impossible.</a:t>
            </a:r>
            <a:endParaRPr lang="en-US" sz="1750"/>
          </a:p>
        </p:txBody>
      </p:sp>
      <p:sp>
        <p:nvSpPr>
          <p:cNvPr id="7" name="Shape 4"/>
          <p:cNvSpPr/>
          <p:nvPr/>
        </p:nvSpPr>
        <p:spPr>
          <a:xfrm>
            <a:off x="10171748" y="1937742"/>
            <a:ext cx="3664863" cy="3491032"/>
          </a:xfrm>
          <a:prstGeom prst="roundRect">
            <a:avLst>
              <a:gd name="adj" fmla="val 2729"/>
            </a:avLst>
          </a:prstGeom>
          <a:solidFill>
            <a:srgbClr val="D6F5EE"/>
          </a:solidFill>
          <a:ln w="7620">
            <a:solidFill>
              <a:srgbClr val="BCDBD4"/>
            </a:solidFill>
            <a:prstDash val="solid"/>
          </a:ln>
        </p:spPr>
        <p:txBody>
          <a:bodyPr/>
          <a:lstStyle/>
          <a:p>
            <a:endParaRPr lang="en-US"/>
          </a:p>
        </p:txBody>
      </p:sp>
      <p:sp>
        <p:nvSpPr>
          <p:cNvPr id="8" name="Text 5"/>
          <p:cNvSpPr/>
          <p:nvPr/>
        </p:nvSpPr>
        <p:spPr>
          <a:xfrm>
            <a:off x="10406182" y="2172176"/>
            <a:ext cx="3195995" cy="708660"/>
          </a:xfrm>
          <a:prstGeom prst="rect">
            <a:avLst/>
          </a:prstGeom>
          <a:noFill/>
          <a:ln/>
        </p:spPr>
        <p:txBody>
          <a:bodyPr wrap="square" lIns="0" tIns="0" rIns="0" bIns="0" rtlCol="0" anchor="t"/>
          <a:lstStyle/>
          <a:p>
            <a:pPr marL="0" indent="0" algn="l">
              <a:lnSpc>
                <a:spcPts val="2750"/>
              </a:lnSpc>
              <a:buNone/>
            </a:pPr>
            <a:r>
              <a:rPr lang="en-US" sz="2200" b="1">
                <a:solidFill>
                  <a:srgbClr val="333F70"/>
                </a:solidFill>
                <a:latin typeface="Unbounded Bold" pitchFamily="34" charset="0"/>
                <a:ea typeface="Unbounded Bold" pitchFamily="34" charset="-122"/>
                <a:cs typeface="Unbounded Bold" pitchFamily="34" charset="-120"/>
              </a:rPr>
              <a:t>Security Vulnerability</a:t>
            </a:r>
            <a:endParaRPr lang="en-US" sz="2200"/>
          </a:p>
        </p:txBody>
      </p:sp>
      <p:sp>
        <p:nvSpPr>
          <p:cNvPr id="9" name="Text 6"/>
          <p:cNvSpPr/>
          <p:nvPr/>
        </p:nvSpPr>
        <p:spPr>
          <a:xfrm>
            <a:off x="10406182" y="3016925"/>
            <a:ext cx="3195995" cy="2177415"/>
          </a:xfrm>
          <a:prstGeom prst="rect">
            <a:avLst/>
          </a:prstGeom>
          <a:noFill/>
          <a:ln/>
        </p:spPr>
        <p:txBody>
          <a:bodyPr wrap="square" lIns="0" tIns="0" rIns="0" bIns="0" rtlCol="0" anchor="t"/>
          <a:lstStyle/>
          <a:p>
            <a:pPr marL="0" indent="0" algn="l">
              <a:lnSpc>
                <a:spcPts val="2850"/>
              </a:lnSpc>
              <a:buNone/>
            </a:pPr>
            <a:r>
              <a:rPr lang="en-US" sz="1750">
                <a:solidFill>
                  <a:srgbClr val="333F70"/>
                </a:solidFill>
                <a:latin typeface="Open Sans" pitchFamily="34" charset="0"/>
                <a:ea typeface="Open Sans" pitchFamily="34" charset="-122"/>
                <a:cs typeface="Open Sans" pitchFamily="34" charset="-120"/>
              </a:rPr>
              <a:t>Existing authentication and verification systems lack robust mechanisms to distinguish between real and artificially generated audio content.</a:t>
            </a:r>
            <a:endParaRPr lang="en-US" sz="1750"/>
          </a:p>
        </p:txBody>
      </p:sp>
      <p:sp>
        <p:nvSpPr>
          <p:cNvPr id="10" name="Shape 7"/>
          <p:cNvSpPr/>
          <p:nvPr/>
        </p:nvSpPr>
        <p:spPr>
          <a:xfrm>
            <a:off x="6280190" y="5655588"/>
            <a:ext cx="7556421" cy="1685092"/>
          </a:xfrm>
          <a:prstGeom prst="roundRect">
            <a:avLst>
              <a:gd name="adj" fmla="val 5654"/>
            </a:avLst>
          </a:prstGeom>
          <a:solidFill>
            <a:srgbClr val="D6F5EE"/>
          </a:solidFill>
          <a:ln w="7620">
            <a:solidFill>
              <a:srgbClr val="BCDBD4"/>
            </a:solidFill>
            <a:prstDash val="solid"/>
          </a:ln>
        </p:spPr>
        <p:txBody>
          <a:bodyPr/>
          <a:lstStyle/>
          <a:p>
            <a:endParaRPr lang="en-US"/>
          </a:p>
        </p:txBody>
      </p:sp>
      <p:sp>
        <p:nvSpPr>
          <p:cNvPr id="11" name="Text 8"/>
          <p:cNvSpPr/>
          <p:nvPr/>
        </p:nvSpPr>
        <p:spPr>
          <a:xfrm>
            <a:off x="6514624" y="5890022"/>
            <a:ext cx="3371255" cy="354330"/>
          </a:xfrm>
          <a:prstGeom prst="rect">
            <a:avLst/>
          </a:prstGeom>
          <a:noFill/>
          <a:ln/>
        </p:spPr>
        <p:txBody>
          <a:bodyPr wrap="none" lIns="0" tIns="0" rIns="0" bIns="0" rtlCol="0" anchor="t"/>
          <a:lstStyle/>
          <a:p>
            <a:pPr marL="0" indent="0" algn="l">
              <a:lnSpc>
                <a:spcPts val="2750"/>
              </a:lnSpc>
              <a:buNone/>
            </a:pPr>
            <a:r>
              <a:rPr lang="en-US" sz="2200" b="1">
                <a:solidFill>
                  <a:srgbClr val="333F70"/>
                </a:solidFill>
                <a:latin typeface="Unbounded Bold" pitchFamily="34" charset="0"/>
                <a:ea typeface="Unbounded Bold" pitchFamily="34" charset="-122"/>
                <a:cs typeface="Unbounded Bold" pitchFamily="34" charset="-120"/>
              </a:rPr>
              <a:t>Research Question</a:t>
            </a:r>
            <a:endParaRPr lang="en-US" sz="2200"/>
          </a:p>
        </p:txBody>
      </p:sp>
      <p:sp>
        <p:nvSpPr>
          <p:cNvPr id="12" name="Text 9"/>
          <p:cNvSpPr/>
          <p:nvPr/>
        </p:nvSpPr>
        <p:spPr>
          <a:xfrm>
            <a:off x="6514624" y="6380440"/>
            <a:ext cx="7087553" cy="725805"/>
          </a:xfrm>
          <a:prstGeom prst="rect">
            <a:avLst/>
          </a:prstGeom>
          <a:noFill/>
          <a:ln/>
        </p:spPr>
        <p:txBody>
          <a:bodyPr wrap="square" lIns="0" tIns="0" rIns="0" bIns="0" rtlCol="0" anchor="t"/>
          <a:lstStyle/>
          <a:p>
            <a:pPr marL="0" indent="0" algn="l">
              <a:lnSpc>
                <a:spcPts val="2850"/>
              </a:lnSpc>
              <a:buNone/>
            </a:pPr>
            <a:r>
              <a:rPr lang="en-US" sz="1750">
                <a:solidFill>
                  <a:srgbClr val="333F70"/>
                </a:solidFill>
                <a:latin typeface="Open Sans" pitchFamily="34" charset="0"/>
                <a:ea typeface="Open Sans" pitchFamily="34" charset="-122"/>
                <a:cs typeface="Open Sans" pitchFamily="34" charset="-120"/>
              </a:rPr>
              <a:t>How can deep learning architectures accurately classify and differentiate authentic audio from synthetic deepfake recordings?</a:t>
            </a:r>
            <a:endParaRPr lang="en-US" sz="17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25210" y="859750"/>
            <a:ext cx="1160264" cy="404693"/>
          </a:xfrm>
          <a:prstGeom prst="roundRect">
            <a:avLst>
              <a:gd name="adj" fmla="val 17204"/>
            </a:avLst>
          </a:prstGeom>
          <a:noFill/>
          <a:ln w="7620">
            <a:solidFill>
              <a:srgbClr val="26A688"/>
            </a:solidFill>
            <a:prstDash val="solid"/>
          </a:ln>
        </p:spPr>
        <p:txBody>
          <a:bodyPr/>
          <a:lstStyle/>
          <a:p>
            <a:endParaRPr lang="en-US"/>
          </a:p>
        </p:txBody>
      </p:sp>
      <p:sp>
        <p:nvSpPr>
          <p:cNvPr id="3" name="Text 1"/>
          <p:cNvSpPr/>
          <p:nvPr/>
        </p:nvSpPr>
        <p:spPr>
          <a:xfrm>
            <a:off x="857131" y="929521"/>
            <a:ext cx="896422" cy="265152"/>
          </a:xfrm>
          <a:prstGeom prst="rect">
            <a:avLst/>
          </a:prstGeom>
          <a:noFill/>
          <a:ln/>
        </p:spPr>
        <p:txBody>
          <a:bodyPr wrap="none" lIns="0" tIns="0" rIns="0" bIns="0" rtlCol="0" anchor="t"/>
          <a:lstStyle/>
          <a:p>
            <a:pPr marL="0" indent="0" algn="l">
              <a:lnSpc>
                <a:spcPts val="2050"/>
              </a:lnSpc>
              <a:buNone/>
            </a:pPr>
            <a:r>
              <a:rPr lang="en-US" sz="1300">
                <a:solidFill>
                  <a:srgbClr val="26A688"/>
                </a:solidFill>
                <a:latin typeface="Open Sans" pitchFamily="34" charset="0"/>
                <a:ea typeface="Open Sans" pitchFamily="34" charset="-122"/>
                <a:cs typeface="Open Sans" pitchFamily="34" charset="-120"/>
              </a:rPr>
              <a:t>OBJECTIVES</a:t>
            </a:r>
            <a:endParaRPr lang="en-US" sz="1300"/>
          </a:p>
        </p:txBody>
      </p:sp>
      <p:sp>
        <p:nvSpPr>
          <p:cNvPr id="4" name="Text 2"/>
          <p:cNvSpPr/>
          <p:nvPr/>
        </p:nvSpPr>
        <p:spPr>
          <a:xfrm>
            <a:off x="725210" y="1347311"/>
            <a:ext cx="11961495" cy="647462"/>
          </a:xfrm>
          <a:prstGeom prst="rect">
            <a:avLst/>
          </a:prstGeom>
          <a:noFill/>
          <a:ln/>
        </p:spPr>
        <p:txBody>
          <a:bodyPr wrap="none" lIns="0" tIns="0" rIns="0" bIns="0" rtlCol="0" anchor="t"/>
          <a:lstStyle/>
          <a:p>
            <a:pPr marL="0" indent="0" algn="l">
              <a:lnSpc>
                <a:spcPts val="5050"/>
              </a:lnSpc>
              <a:buNone/>
            </a:pPr>
            <a:r>
              <a:rPr lang="en-US" sz="4050" b="1">
                <a:solidFill>
                  <a:srgbClr val="333F70"/>
                </a:solidFill>
                <a:latin typeface="Unbounded Bold" pitchFamily="34" charset="0"/>
                <a:ea typeface="Unbounded Bold" pitchFamily="34" charset="-122"/>
                <a:cs typeface="Unbounded Bold" pitchFamily="34" charset="-120"/>
              </a:rPr>
              <a:t>Project Aim and Research Objectives</a:t>
            </a:r>
            <a:endParaRPr lang="en-US" sz="4050"/>
          </a:p>
        </p:txBody>
      </p:sp>
      <p:sp>
        <p:nvSpPr>
          <p:cNvPr id="5" name="Text 3"/>
          <p:cNvSpPr/>
          <p:nvPr/>
        </p:nvSpPr>
        <p:spPr>
          <a:xfrm>
            <a:off x="725210" y="2077641"/>
            <a:ext cx="3108127" cy="388501"/>
          </a:xfrm>
          <a:prstGeom prst="rect">
            <a:avLst/>
          </a:prstGeom>
          <a:noFill/>
          <a:ln/>
        </p:spPr>
        <p:txBody>
          <a:bodyPr wrap="none" lIns="0" tIns="0" rIns="0" bIns="0" rtlCol="0" anchor="t"/>
          <a:lstStyle/>
          <a:p>
            <a:pPr marL="0" indent="0" algn="l">
              <a:lnSpc>
                <a:spcPts val="3050"/>
              </a:lnSpc>
              <a:buNone/>
            </a:pPr>
            <a:r>
              <a:rPr lang="en-US" sz="2400" b="1">
                <a:solidFill>
                  <a:srgbClr val="333F70"/>
                </a:solidFill>
                <a:latin typeface="Unbounded Bold" pitchFamily="34" charset="0"/>
                <a:ea typeface="Unbounded Bold" pitchFamily="34" charset="-122"/>
                <a:cs typeface="Unbounded Bold" pitchFamily="34" charset="-120"/>
              </a:rPr>
              <a:t>Primary Aim</a:t>
            </a:r>
            <a:endParaRPr lang="en-US" sz="2400"/>
          </a:p>
        </p:txBody>
      </p:sp>
      <p:sp>
        <p:nvSpPr>
          <p:cNvPr id="6" name="Text 4"/>
          <p:cNvSpPr/>
          <p:nvPr/>
        </p:nvSpPr>
        <p:spPr>
          <a:xfrm>
            <a:off x="725210" y="2776895"/>
            <a:ext cx="13179981" cy="662940"/>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Design, implement, and comprehensively evaluate a robust deep learning system capable of detecting audio deepfakes with high accuracy and reliability.</a:t>
            </a:r>
            <a:endParaRPr lang="en-US" sz="1600"/>
          </a:p>
        </p:txBody>
      </p:sp>
      <p:sp>
        <p:nvSpPr>
          <p:cNvPr id="7" name="Text 5"/>
          <p:cNvSpPr/>
          <p:nvPr/>
        </p:nvSpPr>
        <p:spPr>
          <a:xfrm>
            <a:off x="725210" y="3672840"/>
            <a:ext cx="207169" cy="258961"/>
          </a:xfrm>
          <a:prstGeom prst="rect">
            <a:avLst/>
          </a:prstGeom>
          <a:noFill/>
          <a:ln/>
        </p:spPr>
        <p:txBody>
          <a:bodyPr wrap="none" lIns="0" tIns="0" rIns="0" bIns="0" rtlCol="0" anchor="t"/>
          <a:lstStyle/>
          <a:p>
            <a:pPr marL="0" indent="0" algn="l">
              <a:lnSpc>
                <a:spcPts val="2600"/>
              </a:lnSpc>
              <a:buNone/>
            </a:pPr>
            <a:r>
              <a:rPr lang="en-US" sz="1600">
                <a:solidFill>
                  <a:srgbClr val="333F70"/>
                </a:solidFill>
                <a:latin typeface="Unbounded Light" pitchFamily="34" charset="0"/>
                <a:ea typeface="Unbounded Light" pitchFamily="34" charset="-122"/>
                <a:cs typeface="Unbounded Light" pitchFamily="34" charset="-120"/>
              </a:rPr>
              <a:t>01</a:t>
            </a:r>
            <a:endParaRPr lang="en-US" sz="1600"/>
          </a:p>
        </p:txBody>
      </p:sp>
      <p:sp>
        <p:nvSpPr>
          <p:cNvPr id="8" name="Shape 6"/>
          <p:cNvSpPr/>
          <p:nvPr/>
        </p:nvSpPr>
        <p:spPr>
          <a:xfrm>
            <a:off x="725210" y="4002167"/>
            <a:ext cx="6486406" cy="22860"/>
          </a:xfrm>
          <a:prstGeom prst="rect">
            <a:avLst/>
          </a:prstGeom>
          <a:solidFill>
            <a:srgbClr val="26A688"/>
          </a:solidFill>
          <a:ln/>
        </p:spPr>
        <p:txBody>
          <a:bodyPr/>
          <a:lstStyle/>
          <a:p>
            <a:endParaRPr lang="en-US"/>
          </a:p>
        </p:txBody>
      </p:sp>
      <p:sp>
        <p:nvSpPr>
          <p:cNvPr id="9" name="Text 7"/>
          <p:cNvSpPr/>
          <p:nvPr/>
        </p:nvSpPr>
        <p:spPr>
          <a:xfrm>
            <a:off x="725210" y="4151471"/>
            <a:ext cx="3275886" cy="323612"/>
          </a:xfrm>
          <a:prstGeom prst="rect">
            <a:avLst/>
          </a:prstGeom>
          <a:noFill/>
          <a:ln/>
        </p:spPr>
        <p:txBody>
          <a:bodyPr wrap="none" lIns="0" tIns="0" rIns="0" bIns="0" rtlCol="0" anchor="t"/>
          <a:lstStyle/>
          <a:p>
            <a:pPr marL="0" indent="0" algn="l">
              <a:lnSpc>
                <a:spcPts val="2500"/>
              </a:lnSpc>
              <a:buNone/>
            </a:pPr>
            <a:r>
              <a:rPr lang="en-US" sz="2000" b="1">
                <a:solidFill>
                  <a:srgbClr val="333F70"/>
                </a:solidFill>
                <a:latin typeface="Unbounded Bold" pitchFamily="34" charset="0"/>
                <a:ea typeface="Unbounded Bold" pitchFamily="34" charset="-122"/>
                <a:cs typeface="Unbounded Bold" pitchFamily="34" charset="-120"/>
              </a:rPr>
              <a:t>Feature Engineering</a:t>
            </a:r>
            <a:endParaRPr lang="en-US" sz="2000"/>
          </a:p>
        </p:txBody>
      </p:sp>
      <p:sp>
        <p:nvSpPr>
          <p:cNvPr id="10" name="Text 8"/>
          <p:cNvSpPr/>
          <p:nvPr/>
        </p:nvSpPr>
        <p:spPr>
          <a:xfrm>
            <a:off x="725210" y="4599384"/>
            <a:ext cx="6486406" cy="662940"/>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Extract discriminative audio features that capture the subtle distinctions between authentic and synthetic speech patterns.</a:t>
            </a:r>
            <a:endParaRPr lang="en-US" sz="1600"/>
          </a:p>
        </p:txBody>
      </p:sp>
      <p:sp>
        <p:nvSpPr>
          <p:cNvPr id="11" name="Text 9"/>
          <p:cNvSpPr/>
          <p:nvPr/>
        </p:nvSpPr>
        <p:spPr>
          <a:xfrm>
            <a:off x="7418784" y="3672840"/>
            <a:ext cx="207169" cy="258961"/>
          </a:xfrm>
          <a:prstGeom prst="rect">
            <a:avLst/>
          </a:prstGeom>
          <a:noFill/>
          <a:ln/>
        </p:spPr>
        <p:txBody>
          <a:bodyPr wrap="none" lIns="0" tIns="0" rIns="0" bIns="0" rtlCol="0" anchor="t"/>
          <a:lstStyle/>
          <a:p>
            <a:pPr marL="0" indent="0" algn="l">
              <a:lnSpc>
                <a:spcPts val="2600"/>
              </a:lnSpc>
              <a:buNone/>
            </a:pPr>
            <a:r>
              <a:rPr lang="en-US" sz="1600">
                <a:solidFill>
                  <a:srgbClr val="333F70"/>
                </a:solidFill>
                <a:latin typeface="Unbounded Light" pitchFamily="34" charset="0"/>
                <a:ea typeface="Unbounded Light" pitchFamily="34" charset="-122"/>
                <a:cs typeface="Unbounded Light" pitchFamily="34" charset="-120"/>
              </a:rPr>
              <a:t>02</a:t>
            </a:r>
            <a:endParaRPr lang="en-US" sz="1600"/>
          </a:p>
        </p:txBody>
      </p:sp>
      <p:sp>
        <p:nvSpPr>
          <p:cNvPr id="12" name="Shape 10"/>
          <p:cNvSpPr/>
          <p:nvPr/>
        </p:nvSpPr>
        <p:spPr>
          <a:xfrm>
            <a:off x="7418784" y="4002167"/>
            <a:ext cx="6486406" cy="22860"/>
          </a:xfrm>
          <a:prstGeom prst="rect">
            <a:avLst/>
          </a:prstGeom>
          <a:solidFill>
            <a:srgbClr val="26A688"/>
          </a:solidFill>
          <a:ln/>
        </p:spPr>
        <p:txBody>
          <a:bodyPr/>
          <a:lstStyle/>
          <a:p>
            <a:endParaRPr lang="en-US"/>
          </a:p>
        </p:txBody>
      </p:sp>
      <p:sp>
        <p:nvSpPr>
          <p:cNvPr id="13" name="Text 11"/>
          <p:cNvSpPr/>
          <p:nvPr/>
        </p:nvSpPr>
        <p:spPr>
          <a:xfrm>
            <a:off x="7418784" y="4151471"/>
            <a:ext cx="3229570" cy="323612"/>
          </a:xfrm>
          <a:prstGeom prst="rect">
            <a:avLst/>
          </a:prstGeom>
          <a:noFill/>
          <a:ln/>
        </p:spPr>
        <p:txBody>
          <a:bodyPr wrap="none" lIns="0" tIns="0" rIns="0" bIns="0" rtlCol="0" anchor="t"/>
          <a:lstStyle/>
          <a:p>
            <a:pPr marL="0" indent="0" algn="l">
              <a:lnSpc>
                <a:spcPts val="2500"/>
              </a:lnSpc>
              <a:buNone/>
            </a:pPr>
            <a:r>
              <a:rPr lang="en-US" sz="2000" b="1">
                <a:solidFill>
                  <a:srgbClr val="333F70"/>
                </a:solidFill>
                <a:latin typeface="Unbounded Bold" pitchFamily="34" charset="0"/>
                <a:ea typeface="Unbounded Bold" pitchFamily="34" charset="-122"/>
                <a:cs typeface="Unbounded Bold" pitchFamily="34" charset="-120"/>
              </a:rPr>
              <a:t>Model Development</a:t>
            </a:r>
            <a:endParaRPr lang="en-US" sz="2000"/>
          </a:p>
        </p:txBody>
      </p:sp>
      <p:sp>
        <p:nvSpPr>
          <p:cNvPr id="14" name="Text 12"/>
          <p:cNvSpPr/>
          <p:nvPr/>
        </p:nvSpPr>
        <p:spPr>
          <a:xfrm>
            <a:off x="7418784" y="4599384"/>
            <a:ext cx="6486406" cy="662940"/>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Train a convolutional neural network-based classifier optimized for binary audio classification tasks.</a:t>
            </a:r>
            <a:endParaRPr lang="en-US" sz="1600"/>
          </a:p>
        </p:txBody>
      </p:sp>
      <p:sp>
        <p:nvSpPr>
          <p:cNvPr id="15" name="Text 13"/>
          <p:cNvSpPr/>
          <p:nvPr/>
        </p:nvSpPr>
        <p:spPr>
          <a:xfrm>
            <a:off x="725210" y="5624870"/>
            <a:ext cx="207169" cy="258961"/>
          </a:xfrm>
          <a:prstGeom prst="rect">
            <a:avLst/>
          </a:prstGeom>
          <a:noFill/>
          <a:ln/>
        </p:spPr>
        <p:txBody>
          <a:bodyPr wrap="none" lIns="0" tIns="0" rIns="0" bIns="0" rtlCol="0" anchor="t"/>
          <a:lstStyle/>
          <a:p>
            <a:pPr marL="0" indent="0" algn="l">
              <a:lnSpc>
                <a:spcPts val="2600"/>
              </a:lnSpc>
              <a:buNone/>
            </a:pPr>
            <a:r>
              <a:rPr lang="en-US" sz="1600">
                <a:solidFill>
                  <a:srgbClr val="333F70"/>
                </a:solidFill>
                <a:latin typeface="Unbounded Light" pitchFamily="34" charset="0"/>
                <a:ea typeface="Unbounded Light" pitchFamily="34" charset="-122"/>
                <a:cs typeface="Unbounded Light" pitchFamily="34" charset="-120"/>
              </a:rPr>
              <a:t>03</a:t>
            </a:r>
            <a:endParaRPr lang="en-US" sz="1600"/>
          </a:p>
        </p:txBody>
      </p:sp>
      <p:sp>
        <p:nvSpPr>
          <p:cNvPr id="16" name="Shape 14"/>
          <p:cNvSpPr/>
          <p:nvPr/>
        </p:nvSpPr>
        <p:spPr>
          <a:xfrm>
            <a:off x="725210" y="5954197"/>
            <a:ext cx="6486406" cy="22860"/>
          </a:xfrm>
          <a:prstGeom prst="rect">
            <a:avLst/>
          </a:prstGeom>
          <a:solidFill>
            <a:srgbClr val="26A688"/>
          </a:solidFill>
          <a:ln/>
        </p:spPr>
        <p:txBody>
          <a:bodyPr/>
          <a:lstStyle/>
          <a:p>
            <a:endParaRPr lang="en-US"/>
          </a:p>
        </p:txBody>
      </p:sp>
      <p:sp>
        <p:nvSpPr>
          <p:cNvPr id="17" name="Text 15"/>
          <p:cNvSpPr/>
          <p:nvPr/>
        </p:nvSpPr>
        <p:spPr>
          <a:xfrm>
            <a:off x="725210" y="6103501"/>
            <a:ext cx="3966329" cy="323612"/>
          </a:xfrm>
          <a:prstGeom prst="rect">
            <a:avLst/>
          </a:prstGeom>
          <a:noFill/>
          <a:ln/>
        </p:spPr>
        <p:txBody>
          <a:bodyPr wrap="none" lIns="0" tIns="0" rIns="0" bIns="0" rtlCol="0" anchor="t"/>
          <a:lstStyle/>
          <a:p>
            <a:pPr marL="0" indent="0" algn="l">
              <a:lnSpc>
                <a:spcPts val="2500"/>
              </a:lnSpc>
              <a:buNone/>
            </a:pPr>
            <a:r>
              <a:rPr lang="en-US" sz="2000" b="1">
                <a:solidFill>
                  <a:srgbClr val="333F70"/>
                </a:solidFill>
                <a:latin typeface="Unbounded Bold" pitchFamily="34" charset="0"/>
                <a:ea typeface="Unbounded Bold" pitchFamily="34" charset="-122"/>
                <a:cs typeface="Unbounded Bold" pitchFamily="34" charset="-120"/>
              </a:rPr>
              <a:t>Performance Evaluation</a:t>
            </a:r>
            <a:endParaRPr lang="en-US" sz="2000"/>
          </a:p>
        </p:txBody>
      </p:sp>
      <p:sp>
        <p:nvSpPr>
          <p:cNvPr id="18" name="Text 16"/>
          <p:cNvSpPr/>
          <p:nvPr/>
        </p:nvSpPr>
        <p:spPr>
          <a:xfrm>
            <a:off x="725210" y="6551414"/>
            <a:ext cx="6486406" cy="662940"/>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Assess model effectiveness using industry-standard metrics including accuracy, precision, recall, and AUC.</a:t>
            </a:r>
            <a:endParaRPr lang="en-US" sz="1600"/>
          </a:p>
        </p:txBody>
      </p:sp>
      <p:sp>
        <p:nvSpPr>
          <p:cNvPr id="19" name="Text 17"/>
          <p:cNvSpPr/>
          <p:nvPr/>
        </p:nvSpPr>
        <p:spPr>
          <a:xfrm>
            <a:off x="7418784" y="5624870"/>
            <a:ext cx="207169" cy="258961"/>
          </a:xfrm>
          <a:prstGeom prst="rect">
            <a:avLst/>
          </a:prstGeom>
          <a:noFill/>
          <a:ln/>
        </p:spPr>
        <p:txBody>
          <a:bodyPr wrap="none" lIns="0" tIns="0" rIns="0" bIns="0" rtlCol="0" anchor="t"/>
          <a:lstStyle/>
          <a:p>
            <a:pPr marL="0" indent="0" algn="l">
              <a:lnSpc>
                <a:spcPts val="2600"/>
              </a:lnSpc>
              <a:buNone/>
            </a:pPr>
            <a:r>
              <a:rPr lang="en-US" sz="1600">
                <a:solidFill>
                  <a:srgbClr val="333F70"/>
                </a:solidFill>
                <a:latin typeface="Unbounded Light" pitchFamily="34" charset="0"/>
                <a:ea typeface="Unbounded Light" pitchFamily="34" charset="-122"/>
                <a:cs typeface="Unbounded Light" pitchFamily="34" charset="-120"/>
              </a:rPr>
              <a:t>04</a:t>
            </a:r>
            <a:endParaRPr lang="en-US" sz="1600"/>
          </a:p>
        </p:txBody>
      </p:sp>
      <p:sp>
        <p:nvSpPr>
          <p:cNvPr id="20" name="Shape 18"/>
          <p:cNvSpPr/>
          <p:nvPr/>
        </p:nvSpPr>
        <p:spPr>
          <a:xfrm>
            <a:off x="7418784" y="5954197"/>
            <a:ext cx="6486406" cy="22860"/>
          </a:xfrm>
          <a:prstGeom prst="rect">
            <a:avLst/>
          </a:prstGeom>
          <a:solidFill>
            <a:srgbClr val="26A688"/>
          </a:solidFill>
          <a:ln/>
        </p:spPr>
        <p:txBody>
          <a:bodyPr/>
          <a:lstStyle/>
          <a:p>
            <a:endParaRPr lang="en-US"/>
          </a:p>
        </p:txBody>
      </p:sp>
      <p:sp>
        <p:nvSpPr>
          <p:cNvPr id="21" name="Text 19"/>
          <p:cNvSpPr/>
          <p:nvPr/>
        </p:nvSpPr>
        <p:spPr>
          <a:xfrm>
            <a:off x="7418784" y="6103501"/>
            <a:ext cx="3397329" cy="323612"/>
          </a:xfrm>
          <a:prstGeom prst="rect">
            <a:avLst/>
          </a:prstGeom>
          <a:noFill/>
          <a:ln/>
        </p:spPr>
        <p:txBody>
          <a:bodyPr wrap="none" lIns="0" tIns="0" rIns="0" bIns="0" rtlCol="0" anchor="t"/>
          <a:lstStyle/>
          <a:p>
            <a:pPr marL="0" indent="0" algn="l">
              <a:lnSpc>
                <a:spcPts val="2500"/>
              </a:lnSpc>
              <a:buNone/>
            </a:pPr>
            <a:r>
              <a:rPr lang="en-US" sz="2000" b="1">
                <a:solidFill>
                  <a:srgbClr val="333F70"/>
                </a:solidFill>
                <a:latin typeface="Unbounded Bold" pitchFamily="34" charset="0"/>
                <a:ea typeface="Unbounded Bold" pitchFamily="34" charset="-122"/>
                <a:cs typeface="Unbounded Bold" pitchFamily="34" charset="-120"/>
              </a:rPr>
              <a:t>System Architecture</a:t>
            </a:r>
            <a:endParaRPr lang="en-US" sz="2000"/>
          </a:p>
        </p:txBody>
      </p:sp>
      <p:sp>
        <p:nvSpPr>
          <p:cNvPr id="22" name="Text 20"/>
          <p:cNvSpPr/>
          <p:nvPr/>
        </p:nvSpPr>
        <p:spPr>
          <a:xfrm>
            <a:off x="7418784" y="6551414"/>
            <a:ext cx="6486406" cy="662940"/>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Develop a modular, extensible system design that facilitates future enhancements and practical deployment scenarios.</a:t>
            </a:r>
            <a:endParaRPr lang="en-US" sz="16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25567" y="865108"/>
            <a:ext cx="11079837" cy="647819"/>
          </a:xfrm>
          <a:prstGeom prst="rect">
            <a:avLst/>
          </a:prstGeom>
          <a:noFill/>
          <a:ln/>
        </p:spPr>
        <p:txBody>
          <a:bodyPr wrap="none" lIns="0" tIns="0" rIns="0" bIns="0" rtlCol="0" anchor="t"/>
          <a:lstStyle/>
          <a:p>
            <a:pPr marL="0" indent="0" algn="l">
              <a:lnSpc>
                <a:spcPts val="5100"/>
              </a:lnSpc>
              <a:buNone/>
            </a:pPr>
            <a:r>
              <a:rPr lang="en-US" sz="4050" b="1">
                <a:solidFill>
                  <a:srgbClr val="333F70"/>
                </a:solidFill>
                <a:latin typeface="Unbounded Bold" pitchFamily="34" charset="0"/>
                <a:ea typeface="Unbounded Bold" pitchFamily="34" charset="-122"/>
                <a:cs typeface="Unbounded Bold" pitchFamily="34" charset="-120"/>
              </a:rPr>
              <a:t>Methodology and Implementation</a:t>
            </a:r>
            <a:endParaRPr lang="en-US" sz="4050"/>
          </a:p>
        </p:txBody>
      </p:sp>
      <p:sp>
        <p:nvSpPr>
          <p:cNvPr id="3" name="Text 1"/>
          <p:cNvSpPr/>
          <p:nvPr/>
        </p:nvSpPr>
        <p:spPr>
          <a:xfrm>
            <a:off x="725567" y="1927503"/>
            <a:ext cx="13179266" cy="663178"/>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Our approach meticulously defines each stage from data preparation to model deployment, ensuring a robust and reproducible deepfake detection system. This systematic methodology underpins the reliability and accuracy of the SafeTone solution.</a:t>
            </a:r>
            <a:endParaRPr lang="en-US" sz="1600"/>
          </a:p>
        </p:txBody>
      </p:sp>
      <p:sp>
        <p:nvSpPr>
          <p:cNvPr id="4" name="Text 2"/>
          <p:cNvSpPr/>
          <p:nvPr/>
        </p:nvSpPr>
        <p:spPr>
          <a:xfrm>
            <a:off x="725567" y="2823805"/>
            <a:ext cx="13179266" cy="746165"/>
          </a:xfrm>
          <a:prstGeom prst="rect">
            <a:avLst/>
          </a:prstGeom>
          <a:noFill/>
          <a:ln/>
        </p:spPr>
        <p:txBody>
          <a:bodyPr wrap="square" lIns="207316" tIns="207316" rIns="207316" bIns="207316" rtlCol="0" anchor="t"/>
          <a:lstStyle/>
          <a:p>
            <a:pPr marL="0" indent="0" algn="l">
              <a:lnSpc>
                <a:spcPts val="2600"/>
              </a:lnSpc>
              <a:buNone/>
            </a:pPr>
            <a:r>
              <a:rPr lang="en-US" sz="1600">
                <a:solidFill>
                  <a:srgbClr val="FFFFFF"/>
                </a:solidFill>
                <a:latin typeface="monospace" pitchFamily="34" charset="0"/>
                <a:ea typeface="monospace" pitchFamily="34" charset="-122"/>
                <a:cs typeface="monospace" pitchFamily="34" charset="-120"/>
              </a:rPr>
              <a:t>Error rendering block: i.startsWith is not a function</a:t>
            </a:r>
            <a:endParaRPr lang="en-US" sz="1600"/>
          </a:p>
        </p:txBody>
      </p:sp>
      <p:sp>
        <p:nvSpPr>
          <p:cNvPr id="5" name="Shape 3"/>
          <p:cNvSpPr/>
          <p:nvPr/>
        </p:nvSpPr>
        <p:spPr>
          <a:xfrm>
            <a:off x="725567" y="3803094"/>
            <a:ext cx="4254818" cy="3561278"/>
          </a:xfrm>
          <a:prstGeom prst="roundRect">
            <a:avLst>
              <a:gd name="adj" fmla="val 3081"/>
            </a:avLst>
          </a:prstGeom>
          <a:solidFill>
            <a:srgbClr val="FFFFFF"/>
          </a:solidFill>
          <a:ln w="22860">
            <a:solidFill>
              <a:srgbClr val="BCDBD4"/>
            </a:solidFill>
            <a:prstDash val="solid"/>
          </a:ln>
        </p:spPr>
        <p:txBody>
          <a:bodyPr/>
          <a:lstStyle/>
          <a:p>
            <a:endParaRPr lang="en-US"/>
          </a:p>
        </p:txBody>
      </p:sp>
      <p:sp>
        <p:nvSpPr>
          <p:cNvPr id="6" name="Shape 4"/>
          <p:cNvSpPr/>
          <p:nvPr/>
        </p:nvSpPr>
        <p:spPr>
          <a:xfrm>
            <a:off x="702707" y="3803094"/>
            <a:ext cx="91440" cy="3561278"/>
          </a:xfrm>
          <a:prstGeom prst="roundRect">
            <a:avLst>
              <a:gd name="adj" fmla="val 95224"/>
            </a:avLst>
          </a:prstGeom>
          <a:solidFill>
            <a:srgbClr val="26A688"/>
          </a:solidFill>
          <a:ln/>
        </p:spPr>
        <p:txBody>
          <a:bodyPr/>
          <a:lstStyle/>
          <a:p>
            <a:endParaRPr lang="en-US"/>
          </a:p>
        </p:txBody>
      </p:sp>
      <p:sp>
        <p:nvSpPr>
          <p:cNvPr id="7" name="Text 5"/>
          <p:cNvSpPr/>
          <p:nvPr/>
        </p:nvSpPr>
        <p:spPr>
          <a:xfrm>
            <a:off x="1024295" y="4033242"/>
            <a:ext cx="3251478" cy="323969"/>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Data Preprocessing</a:t>
            </a:r>
            <a:endParaRPr lang="en-US" sz="2000"/>
          </a:p>
        </p:txBody>
      </p:sp>
      <p:sp>
        <p:nvSpPr>
          <p:cNvPr id="8" name="Text 6"/>
          <p:cNvSpPr/>
          <p:nvPr/>
        </p:nvSpPr>
        <p:spPr>
          <a:xfrm>
            <a:off x="1024295" y="4481513"/>
            <a:ext cx="3725942" cy="2321123"/>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Raw audio signals underwent rigorous standardization and MFCC computation, followed by normalization to ensure consistent input for the neural network. This step significantly reduces noise and emphasizes critical acoustic features.</a:t>
            </a:r>
            <a:endParaRPr lang="en-US" sz="1600"/>
          </a:p>
        </p:txBody>
      </p:sp>
      <p:sp>
        <p:nvSpPr>
          <p:cNvPr id="9" name="Shape 7"/>
          <p:cNvSpPr/>
          <p:nvPr/>
        </p:nvSpPr>
        <p:spPr>
          <a:xfrm>
            <a:off x="5187672" y="3803094"/>
            <a:ext cx="4254937" cy="3561278"/>
          </a:xfrm>
          <a:prstGeom prst="roundRect">
            <a:avLst>
              <a:gd name="adj" fmla="val 3081"/>
            </a:avLst>
          </a:prstGeom>
          <a:solidFill>
            <a:srgbClr val="FFFFFF"/>
          </a:solidFill>
          <a:ln w="22860">
            <a:solidFill>
              <a:srgbClr val="BCDBD4"/>
            </a:solidFill>
            <a:prstDash val="solid"/>
          </a:ln>
        </p:spPr>
        <p:txBody>
          <a:bodyPr/>
          <a:lstStyle/>
          <a:p>
            <a:endParaRPr lang="en-US"/>
          </a:p>
        </p:txBody>
      </p:sp>
      <p:sp>
        <p:nvSpPr>
          <p:cNvPr id="10" name="Shape 8"/>
          <p:cNvSpPr/>
          <p:nvPr/>
        </p:nvSpPr>
        <p:spPr>
          <a:xfrm>
            <a:off x="5164812" y="3803094"/>
            <a:ext cx="91440" cy="3561278"/>
          </a:xfrm>
          <a:prstGeom prst="roundRect">
            <a:avLst>
              <a:gd name="adj" fmla="val 95224"/>
            </a:avLst>
          </a:prstGeom>
          <a:solidFill>
            <a:srgbClr val="26A688"/>
          </a:solidFill>
          <a:ln/>
        </p:spPr>
        <p:txBody>
          <a:bodyPr/>
          <a:lstStyle/>
          <a:p>
            <a:endParaRPr lang="en-US"/>
          </a:p>
        </p:txBody>
      </p:sp>
      <p:sp>
        <p:nvSpPr>
          <p:cNvPr id="11" name="Text 9"/>
          <p:cNvSpPr/>
          <p:nvPr/>
        </p:nvSpPr>
        <p:spPr>
          <a:xfrm>
            <a:off x="5486400" y="4033242"/>
            <a:ext cx="3696653" cy="323969"/>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Training Configuration</a:t>
            </a:r>
            <a:endParaRPr lang="en-US" sz="2000"/>
          </a:p>
        </p:txBody>
      </p:sp>
      <p:sp>
        <p:nvSpPr>
          <p:cNvPr id="12" name="Text 10"/>
          <p:cNvSpPr/>
          <p:nvPr/>
        </p:nvSpPr>
        <p:spPr>
          <a:xfrm>
            <a:off x="5486400" y="4481513"/>
            <a:ext cx="3726061" cy="2652713"/>
          </a:xfrm>
          <a:prstGeom prst="rect">
            <a:avLst/>
          </a:prstGeom>
          <a:noFill/>
          <a:ln/>
        </p:spPr>
        <p:txBody>
          <a:bodyPr wrap="square" lIns="0" tIns="0" rIns="0" bIns="0" rtlCol="0" anchor="t"/>
          <a:lstStyle/>
          <a:p>
            <a:pPr marL="0" indent="0" algn="l">
              <a:lnSpc>
                <a:spcPts val="2600"/>
              </a:lnSpc>
              <a:buNone/>
            </a:pPr>
            <a:r>
              <a:rPr lang="en-US" sz="1600" dirty="0">
                <a:solidFill>
                  <a:srgbClr val="333F70"/>
                </a:solidFill>
                <a:latin typeface="Open Sans" pitchFamily="34" charset="0"/>
                <a:ea typeface="Open Sans" pitchFamily="34" charset="-122"/>
                <a:cs typeface="Open Sans" pitchFamily="34" charset="-120"/>
              </a:rPr>
              <a:t>The CNN was trained using the Adam optimizer with a learning rate schedule to facilitate convergence. Binary cross-entropy served as the loss function, optimizing for robust classification between real and synthetic audio samples over 10 epochs with a batch size of 1000.</a:t>
            </a:r>
            <a:endParaRPr lang="en-US" sz="1600" dirty="0"/>
          </a:p>
        </p:txBody>
      </p:sp>
      <p:sp>
        <p:nvSpPr>
          <p:cNvPr id="13" name="Shape 11"/>
          <p:cNvSpPr/>
          <p:nvPr/>
        </p:nvSpPr>
        <p:spPr>
          <a:xfrm>
            <a:off x="9649897" y="3803094"/>
            <a:ext cx="4254937" cy="3561278"/>
          </a:xfrm>
          <a:prstGeom prst="roundRect">
            <a:avLst>
              <a:gd name="adj" fmla="val 3081"/>
            </a:avLst>
          </a:prstGeom>
          <a:solidFill>
            <a:srgbClr val="FFFFFF"/>
          </a:solidFill>
          <a:ln w="22860">
            <a:solidFill>
              <a:srgbClr val="BCDBD4"/>
            </a:solidFill>
            <a:prstDash val="solid"/>
          </a:ln>
        </p:spPr>
        <p:txBody>
          <a:bodyPr/>
          <a:lstStyle/>
          <a:p>
            <a:endParaRPr lang="en-US"/>
          </a:p>
        </p:txBody>
      </p:sp>
      <p:sp>
        <p:nvSpPr>
          <p:cNvPr id="14" name="Shape 12"/>
          <p:cNvSpPr/>
          <p:nvPr/>
        </p:nvSpPr>
        <p:spPr>
          <a:xfrm>
            <a:off x="9627037" y="3803094"/>
            <a:ext cx="91440" cy="3561278"/>
          </a:xfrm>
          <a:prstGeom prst="roundRect">
            <a:avLst>
              <a:gd name="adj" fmla="val 95224"/>
            </a:avLst>
          </a:prstGeom>
          <a:solidFill>
            <a:srgbClr val="26A688"/>
          </a:solidFill>
          <a:ln/>
        </p:spPr>
        <p:txBody>
          <a:bodyPr/>
          <a:lstStyle/>
          <a:p>
            <a:endParaRPr lang="en-US"/>
          </a:p>
        </p:txBody>
      </p:sp>
      <p:sp>
        <p:nvSpPr>
          <p:cNvPr id="15" name="Text 13"/>
          <p:cNvSpPr/>
          <p:nvPr/>
        </p:nvSpPr>
        <p:spPr>
          <a:xfrm>
            <a:off x="9948624" y="4033242"/>
            <a:ext cx="3210282" cy="323969"/>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Validation Strategy</a:t>
            </a:r>
            <a:endParaRPr lang="en-US" sz="2000"/>
          </a:p>
        </p:txBody>
      </p:sp>
      <p:sp>
        <p:nvSpPr>
          <p:cNvPr id="16" name="Text 14"/>
          <p:cNvSpPr/>
          <p:nvPr/>
        </p:nvSpPr>
        <p:spPr>
          <a:xfrm>
            <a:off x="9948624" y="4481513"/>
            <a:ext cx="3726061" cy="2321123"/>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A stratified 70/30 train-test split was applied to the FoR dataset, maintaining class balance. A dedicated validation set (15% of training data) monitored performance during training to prevent overfitting and guide hyperparameter tuning.</a:t>
            </a:r>
            <a:endParaRPr lang="en-US" sz="1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63391" y="364093"/>
            <a:ext cx="9673709" cy="413742"/>
          </a:xfrm>
          <a:prstGeom prst="rect">
            <a:avLst/>
          </a:prstGeom>
          <a:noFill/>
          <a:ln/>
        </p:spPr>
        <p:txBody>
          <a:bodyPr wrap="none" lIns="0" tIns="0" rIns="0" bIns="0" rtlCol="0" anchor="t"/>
          <a:lstStyle/>
          <a:p>
            <a:pPr marL="0" indent="0" algn="l">
              <a:lnSpc>
                <a:spcPts val="3250"/>
              </a:lnSpc>
              <a:buNone/>
            </a:pPr>
            <a:r>
              <a:rPr lang="en-US" sz="2600" b="1">
                <a:solidFill>
                  <a:srgbClr val="333F70"/>
                </a:solidFill>
                <a:latin typeface="Unbounded Bold" pitchFamily="34" charset="0"/>
                <a:ea typeface="Unbounded Bold" pitchFamily="34" charset="-122"/>
                <a:cs typeface="Unbounded Bold" pitchFamily="34" charset="-120"/>
              </a:rPr>
              <a:t>Comparative Analysis: Real vs Synthetic Audio</a:t>
            </a:r>
            <a:endParaRPr lang="en-US" sz="2600"/>
          </a:p>
        </p:txBody>
      </p:sp>
      <p:sp>
        <p:nvSpPr>
          <p:cNvPr id="3" name="Text 1"/>
          <p:cNvSpPr/>
          <p:nvPr/>
        </p:nvSpPr>
        <p:spPr>
          <a:xfrm>
            <a:off x="463391" y="1042630"/>
            <a:ext cx="13703618" cy="423624"/>
          </a:xfrm>
          <a:prstGeom prst="rect">
            <a:avLst/>
          </a:prstGeom>
          <a:noFill/>
          <a:ln/>
        </p:spPr>
        <p:txBody>
          <a:bodyPr wrap="square" lIns="0" tIns="0" rIns="0" bIns="0" rtlCol="0" anchor="t"/>
          <a:lstStyle/>
          <a:p>
            <a:pPr marL="0" indent="0" algn="l">
              <a:lnSpc>
                <a:spcPts val="1650"/>
              </a:lnSpc>
              <a:buNone/>
            </a:pPr>
            <a:r>
              <a:rPr lang="en-US" sz="1000">
                <a:solidFill>
                  <a:srgbClr val="333F70"/>
                </a:solidFill>
                <a:latin typeface="Open Sans" pitchFamily="34" charset="0"/>
                <a:ea typeface="Open Sans" pitchFamily="34" charset="-122"/>
                <a:cs typeface="Open Sans" pitchFamily="34" charset="-120"/>
              </a:rPr>
              <a:t>Distinguishing between authentic human speech and AI-generated deepfakes requires a keen understanding of their inherent acoustic properties. Our analysis highlights the subtle yet crucial differences that a robust detection model targets.</a:t>
            </a:r>
            <a:endParaRPr lang="en-US" sz="1000"/>
          </a:p>
        </p:txBody>
      </p:sp>
      <p:pic>
        <p:nvPicPr>
          <p:cNvPr id="4" name="Image 0" descr="preencoded.png"/>
          <p:cNvPicPr>
            <a:picLocks noChangeAspect="1"/>
          </p:cNvPicPr>
          <p:nvPr/>
        </p:nvPicPr>
        <p:blipFill>
          <a:blip r:embed="rId3"/>
          <a:stretch>
            <a:fillRect/>
          </a:stretch>
        </p:blipFill>
        <p:spPr>
          <a:xfrm>
            <a:off x="448151" y="450105"/>
            <a:ext cx="13703618" cy="5999559"/>
          </a:xfrm>
          <a:prstGeom prst="rect">
            <a:avLst/>
          </a:prstGeom>
        </p:spPr>
      </p:pic>
      <p:sp>
        <p:nvSpPr>
          <p:cNvPr id="5" name="Text 2"/>
          <p:cNvSpPr/>
          <p:nvPr/>
        </p:nvSpPr>
        <p:spPr>
          <a:xfrm>
            <a:off x="5050281" y="2926565"/>
            <a:ext cx="1607214" cy="1494311"/>
          </a:xfrm>
          <a:prstGeom prst="rect">
            <a:avLst/>
          </a:prstGeom>
          <a:noFill/>
          <a:ln/>
        </p:spPr>
        <p:txBody>
          <a:bodyPr wrap="square" lIns="0" tIns="0" rIns="0" bIns="0" rtlCol="0" anchor="t"/>
          <a:lstStyle/>
          <a:p>
            <a:pPr marL="0" indent="0" algn="ctr">
              <a:lnSpc>
                <a:spcPts val="1650"/>
              </a:lnSpc>
              <a:buNone/>
            </a:pPr>
            <a:r>
              <a:rPr lang="en-US" sz="1350" b="1">
                <a:solidFill>
                  <a:srgbClr val="FFFFFF"/>
                </a:solidFill>
                <a:latin typeface="Unbounded Bold" pitchFamily="34" charset="0"/>
                <a:ea typeface="Unbounded Bold" pitchFamily="34" charset="-122"/>
                <a:cs typeface="Unbounded Bold" pitchFamily="34" charset="-120"/>
              </a:rPr>
              <a:t>Authentic Human Speech</a:t>
            </a:r>
            <a:endParaRPr lang="en-US" sz="1350"/>
          </a:p>
        </p:txBody>
      </p:sp>
      <p:sp>
        <p:nvSpPr>
          <p:cNvPr id="6" name="Text 3"/>
          <p:cNvSpPr/>
          <p:nvPr/>
        </p:nvSpPr>
        <p:spPr>
          <a:xfrm>
            <a:off x="8092034" y="2739777"/>
            <a:ext cx="1607214" cy="1867889"/>
          </a:xfrm>
          <a:prstGeom prst="rect">
            <a:avLst/>
          </a:prstGeom>
          <a:noFill/>
          <a:ln/>
        </p:spPr>
        <p:txBody>
          <a:bodyPr wrap="square" lIns="0" tIns="0" rIns="0" bIns="0" rtlCol="0" anchor="t"/>
          <a:lstStyle/>
          <a:p>
            <a:pPr marL="0" indent="0" algn="ctr">
              <a:lnSpc>
                <a:spcPts val="1650"/>
              </a:lnSpc>
              <a:buNone/>
            </a:pPr>
            <a:r>
              <a:rPr lang="en-US" sz="1350" b="1">
                <a:solidFill>
                  <a:srgbClr val="FFFFFF"/>
                </a:solidFill>
                <a:latin typeface="Unbounded Bold" pitchFamily="34" charset="0"/>
                <a:ea typeface="Unbounded Bold" pitchFamily="34" charset="-122"/>
                <a:cs typeface="Unbounded Bold" pitchFamily="34" charset="-120"/>
              </a:rPr>
              <a:t>AI-Generated Deepfakes</a:t>
            </a:r>
            <a:endParaRPr lang="en-US" sz="1350"/>
          </a:p>
        </p:txBody>
      </p:sp>
      <p:sp>
        <p:nvSpPr>
          <p:cNvPr id="7" name="Text 4"/>
          <p:cNvSpPr/>
          <p:nvPr/>
        </p:nvSpPr>
        <p:spPr>
          <a:xfrm>
            <a:off x="10894906" y="5141674"/>
            <a:ext cx="2922208" cy="597724"/>
          </a:xfrm>
          <a:prstGeom prst="rect">
            <a:avLst/>
          </a:prstGeom>
          <a:noFill/>
          <a:ln/>
        </p:spPr>
        <p:txBody>
          <a:bodyPr wrap="square" lIns="0" tIns="0" rIns="0" bIns="0" rtlCol="0" anchor="t"/>
          <a:lstStyle/>
          <a:p>
            <a:pPr marL="0" indent="0" algn="l">
              <a:lnSpc>
                <a:spcPts val="1350"/>
              </a:lnSpc>
              <a:buNone/>
            </a:pPr>
            <a:r>
              <a:rPr lang="en-US" sz="1050">
                <a:solidFill>
                  <a:srgbClr val="333F70"/>
                </a:solidFill>
                <a:latin typeface="Open Sans" pitchFamily="34" charset="0"/>
                <a:ea typeface="Open Sans" pitchFamily="34" charset="-122"/>
                <a:cs typeface="Open Sans" pitchFamily="34" charset="-120"/>
              </a:rPr>
              <a:t>Missing micro-fluctuations</a:t>
            </a:r>
            <a:endParaRPr lang="en-US" sz="1050"/>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101053" y="5256860"/>
            <a:ext cx="367974" cy="367974"/>
          </a:xfrm>
          <a:prstGeom prst="rect">
            <a:avLst/>
          </a:prstGeom>
        </p:spPr>
      </p:pic>
      <p:sp>
        <p:nvSpPr>
          <p:cNvPr id="9" name="Text 5"/>
          <p:cNvSpPr/>
          <p:nvPr/>
        </p:nvSpPr>
        <p:spPr>
          <a:xfrm>
            <a:off x="10841774" y="1724683"/>
            <a:ext cx="2988622" cy="298862"/>
          </a:xfrm>
          <a:prstGeom prst="rect">
            <a:avLst/>
          </a:prstGeom>
          <a:noFill/>
          <a:ln/>
        </p:spPr>
        <p:txBody>
          <a:bodyPr wrap="none" lIns="0" tIns="0" rIns="0" bIns="0" rtlCol="0" anchor="t"/>
          <a:lstStyle/>
          <a:p>
            <a:pPr marL="0" indent="0" algn="l">
              <a:lnSpc>
                <a:spcPts val="1350"/>
              </a:lnSpc>
              <a:buNone/>
            </a:pPr>
            <a:r>
              <a:rPr lang="en-US" sz="1050">
                <a:solidFill>
                  <a:srgbClr val="333F70"/>
                </a:solidFill>
                <a:latin typeface="Open Sans" pitchFamily="34" charset="0"/>
                <a:ea typeface="Open Sans" pitchFamily="34" charset="-122"/>
                <a:cs typeface="Open Sans" pitchFamily="34" charset="-120"/>
              </a:rPr>
              <a:t>Rich harmonic content</a:t>
            </a:r>
            <a:endParaRPr lang="en-US" sz="1050"/>
          </a:p>
        </p:txBody>
      </p:sp>
      <p:pic>
        <p:nvPicPr>
          <p:cNvPr id="10"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109562" y="1661175"/>
            <a:ext cx="372540" cy="372540"/>
          </a:xfrm>
          <a:prstGeom prst="rect">
            <a:avLst/>
          </a:prstGeom>
        </p:spPr>
      </p:pic>
      <p:sp>
        <p:nvSpPr>
          <p:cNvPr id="11" name="Text 6"/>
          <p:cNvSpPr/>
          <p:nvPr/>
        </p:nvSpPr>
        <p:spPr>
          <a:xfrm>
            <a:off x="1052376" y="5429281"/>
            <a:ext cx="2908925" cy="597724"/>
          </a:xfrm>
          <a:prstGeom prst="rect">
            <a:avLst/>
          </a:prstGeom>
          <a:noFill/>
          <a:ln/>
        </p:spPr>
        <p:txBody>
          <a:bodyPr wrap="square" lIns="0" tIns="0" rIns="0" bIns="0" rtlCol="0" anchor="t"/>
          <a:lstStyle/>
          <a:p>
            <a:pPr marL="0" indent="0" algn="r">
              <a:lnSpc>
                <a:spcPts val="1350"/>
              </a:lnSpc>
              <a:buNone/>
            </a:pPr>
            <a:r>
              <a:rPr lang="en-US" sz="1050">
                <a:solidFill>
                  <a:srgbClr val="333F70"/>
                </a:solidFill>
                <a:latin typeface="Open Sans" pitchFamily="34" charset="0"/>
                <a:ea typeface="Open Sans" pitchFamily="34" charset="-122"/>
                <a:cs typeface="Open Sans" pitchFamily="34" charset="-120"/>
              </a:rPr>
              <a:t>Consistent spectral regularity</a:t>
            </a:r>
            <a:endParaRPr lang="en-US" sz="1050"/>
          </a:p>
        </p:txBody>
      </p:sp>
      <p:pic>
        <p:nvPicPr>
          <p:cNvPr id="12"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263277" y="5282804"/>
            <a:ext cx="367974" cy="367974"/>
          </a:xfrm>
          <a:prstGeom prst="rect">
            <a:avLst/>
          </a:prstGeom>
        </p:spPr>
      </p:pic>
      <p:sp>
        <p:nvSpPr>
          <p:cNvPr id="13" name="Text 7"/>
          <p:cNvSpPr/>
          <p:nvPr/>
        </p:nvSpPr>
        <p:spPr>
          <a:xfrm>
            <a:off x="972679" y="1698013"/>
            <a:ext cx="2988622" cy="298862"/>
          </a:xfrm>
          <a:prstGeom prst="rect">
            <a:avLst/>
          </a:prstGeom>
          <a:noFill/>
          <a:ln/>
        </p:spPr>
        <p:txBody>
          <a:bodyPr wrap="none" lIns="0" tIns="0" rIns="0" bIns="0" rtlCol="0" anchor="t"/>
          <a:lstStyle/>
          <a:p>
            <a:pPr marL="0" indent="0" algn="r">
              <a:lnSpc>
                <a:spcPts val="1350"/>
              </a:lnSpc>
              <a:buNone/>
            </a:pPr>
            <a:r>
              <a:rPr lang="en-US" sz="1050">
                <a:solidFill>
                  <a:srgbClr val="333F70"/>
                </a:solidFill>
                <a:latin typeface="Open Sans" pitchFamily="34" charset="0"/>
                <a:ea typeface="Open Sans" pitchFamily="34" charset="-122"/>
                <a:cs typeface="Open Sans" pitchFamily="34" charset="-120"/>
              </a:rPr>
              <a:t>Natural pitch variation</a:t>
            </a:r>
            <a:endParaRPr lang="en-US" sz="1050"/>
          </a:p>
        </p:txBody>
      </p:sp>
      <p:pic>
        <p:nvPicPr>
          <p:cNvPr id="14"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217825" y="1663457"/>
            <a:ext cx="367974" cy="367974"/>
          </a:xfrm>
          <a:prstGeom prst="rect">
            <a:avLst/>
          </a:prstGeom>
        </p:spPr>
      </p:pic>
      <p:sp>
        <p:nvSpPr>
          <p:cNvPr id="15" name="Shape 8"/>
          <p:cNvSpPr/>
          <p:nvPr/>
        </p:nvSpPr>
        <p:spPr>
          <a:xfrm>
            <a:off x="432098" y="6475942"/>
            <a:ext cx="4479608" cy="1216938"/>
          </a:xfrm>
          <a:prstGeom prst="roundRect">
            <a:avLst>
              <a:gd name="adj" fmla="val 6011"/>
            </a:avLst>
          </a:prstGeom>
          <a:solidFill>
            <a:srgbClr val="FFFFFF"/>
          </a:solidFill>
          <a:ln w="15240">
            <a:solidFill>
              <a:srgbClr val="BCDBD4"/>
            </a:solidFill>
            <a:prstDash val="solid"/>
          </a:ln>
        </p:spPr>
        <p:txBody>
          <a:bodyPr/>
          <a:lstStyle/>
          <a:p>
            <a:endParaRPr lang="en-US"/>
          </a:p>
        </p:txBody>
      </p:sp>
      <p:sp>
        <p:nvSpPr>
          <p:cNvPr id="16" name="Shape 9"/>
          <p:cNvSpPr/>
          <p:nvPr/>
        </p:nvSpPr>
        <p:spPr>
          <a:xfrm>
            <a:off x="416858" y="6475942"/>
            <a:ext cx="60960" cy="1216938"/>
          </a:xfrm>
          <a:prstGeom prst="roundRect">
            <a:avLst>
              <a:gd name="adj" fmla="val 91225"/>
            </a:avLst>
          </a:prstGeom>
          <a:solidFill>
            <a:srgbClr val="26A688"/>
          </a:solidFill>
          <a:ln/>
        </p:spPr>
        <p:txBody>
          <a:bodyPr/>
          <a:lstStyle/>
          <a:p>
            <a:endParaRPr lang="en-US"/>
          </a:p>
        </p:txBody>
      </p:sp>
      <p:sp>
        <p:nvSpPr>
          <p:cNvPr id="17" name="Text 10"/>
          <p:cNvSpPr/>
          <p:nvPr/>
        </p:nvSpPr>
        <p:spPr>
          <a:xfrm>
            <a:off x="625456" y="6623580"/>
            <a:ext cx="2135505" cy="206812"/>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Acoustic Signatures</a:t>
            </a:r>
            <a:endParaRPr lang="en-US" sz="1300"/>
          </a:p>
        </p:txBody>
      </p:sp>
      <p:sp>
        <p:nvSpPr>
          <p:cNvPr id="18" name="Text 11"/>
          <p:cNvSpPr/>
          <p:nvPr/>
        </p:nvSpPr>
        <p:spPr>
          <a:xfrm>
            <a:off x="625456" y="6909806"/>
            <a:ext cx="4138613" cy="635437"/>
          </a:xfrm>
          <a:prstGeom prst="rect">
            <a:avLst/>
          </a:prstGeom>
          <a:noFill/>
          <a:ln/>
        </p:spPr>
        <p:txBody>
          <a:bodyPr wrap="square" lIns="0" tIns="0" rIns="0" bIns="0" rtlCol="0" anchor="t"/>
          <a:lstStyle/>
          <a:p>
            <a:pPr marL="0" indent="0" algn="l">
              <a:lnSpc>
                <a:spcPts val="1650"/>
              </a:lnSpc>
              <a:buNone/>
            </a:pPr>
            <a:r>
              <a:rPr lang="en-US" sz="1000">
                <a:solidFill>
                  <a:srgbClr val="333F70"/>
                </a:solidFill>
                <a:latin typeface="Open Sans" pitchFamily="34" charset="0"/>
                <a:ea typeface="Open Sans" pitchFamily="34" charset="-122"/>
                <a:cs typeface="Open Sans" pitchFamily="34" charset="-120"/>
              </a:rPr>
              <a:t>Real audio features complex, organic harmonic structures, whereas synthetic samples often display simpler, more uniform patterns in their MFCC representations.</a:t>
            </a:r>
            <a:endParaRPr lang="en-US" sz="1000"/>
          </a:p>
        </p:txBody>
      </p:sp>
      <p:sp>
        <p:nvSpPr>
          <p:cNvPr id="19" name="Shape 12"/>
          <p:cNvSpPr/>
          <p:nvPr/>
        </p:nvSpPr>
        <p:spPr>
          <a:xfrm>
            <a:off x="5044103" y="6475942"/>
            <a:ext cx="4479608" cy="1216938"/>
          </a:xfrm>
          <a:prstGeom prst="roundRect">
            <a:avLst>
              <a:gd name="adj" fmla="val 6011"/>
            </a:avLst>
          </a:prstGeom>
          <a:solidFill>
            <a:srgbClr val="FFFFFF"/>
          </a:solidFill>
          <a:ln w="15240">
            <a:solidFill>
              <a:srgbClr val="BCDBD4"/>
            </a:solidFill>
            <a:prstDash val="solid"/>
          </a:ln>
        </p:spPr>
        <p:txBody>
          <a:bodyPr/>
          <a:lstStyle/>
          <a:p>
            <a:endParaRPr lang="en-US"/>
          </a:p>
        </p:txBody>
      </p:sp>
      <p:sp>
        <p:nvSpPr>
          <p:cNvPr id="20" name="Shape 13"/>
          <p:cNvSpPr/>
          <p:nvPr/>
        </p:nvSpPr>
        <p:spPr>
          <a:xfrm>
            <a:off x="5028863" y="6475942"/>
            <a:ext cx="60960" cy="1216938"/>
          </a:xfrm>
          <a:prstGeom prst="roundRect">
            <a:avLst>
              <a:gd name="adj" fmla="val 91225"/>
            </a:avLst>
          </a:prstGeom>
          <a:solidFill>
            <a:srgbClr val="26A688"/>
          </a:solidFill>
          <a:ln/>
        </p:spPr>
        <p:txBody>
          <a:bodyPr/>
          <a:lstStyle/>
          <a:p>
            <a:endParaRPr lang="en-US"/>
          </a:p>
        </p:txBody>
      </p:sp>
      <p:sp>
        <p:nvSpPr>
          <p:cNvPr id="21" name="Text 14"/>
          <p:cNvSpPr/>
          <p:nvPr/>
        </p:nvSpPr>
        <p:spPr>
          <a:xfrm>
            <a:off x="5237461" y="6623580"/>
            <a:ext cx="1690568" cy="206812"/>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Subtle Artifacts</a:t>
            </a:r>
            <a:endParaRPr lang="en-US" sz="1300"/>
          </a:p>
        </p:txBody>
      </p:sp>
      <p:sp>
        <p:nvSpPr>
          <p:cNvPr id="22" name="Text 15"/>
          <p:cNvSpPr/>
          <p:nvPr/>
        </p:nvSpPr>
        <p:spPr>
          <a:xfrm>
            <a:off x="5237461" y="6909806"/>
            <a:ext cx="4138613" cy="635437"/>
          </a:xfrm>
          <a:prstGeom prst="rect">
            <a:avLst/>
          </a:prstGeom>
          <a:noFill/>
          <a:ln/>
        </p:spPr>
        <p:txBody>
          <a:bodyPr wrap="square" lIns="0" tIns="0" rIns="0" bIns="0" rtlCol="0" anchor="t"/>
          <a:lstStyle/>
          <a:p>
            <a:pPr marL="0" indent="0" algn="l">
              <a:lnSpc>
                <a:spcPts val="1650"/>
              </a:lnSpc>
              <a:buNone/>
            </a:pPr>
            <a:r>
              <a:rPr lang="en-US" sz="1000">
                <a:solidFill>
                  <a:srgbClr val="333F70"/>
                </a:solidFill>
                <a:latin typeface="Open Sans" pitchFamily="34" charset="0"/>
                <a:ea typeface="Open Sans" pitchFamily="34" charset="-122"/>
                <a:cs typeface="Open Sans" pitchFamily="34" charset="-120"/>
              </a:rPr>
              <a:t>Deepfakes can introduce detectable spectral anomalies, such as unnatural echoes, pitch discontinuities, or inconsistent background noise, absent in genuine recordings.</a:t>
            </a:r>
            <a:endParaRPr lang="en-US" sz="1000"/>
          </a:p>
        </p:txBody>
      </p:sp>
      <p:sp>
        <p:nvSpPr>
          <p:cNvPr id="23" name="Shape 16"/>
          <p:cNvSpPr/>
          <p:nvPr/>
        </p:nvSpPr>
        <p:spPr>
          <a:xfrm>
            <a:off x="9656108" y="6475942"/>
            <a:ext cx="4479608" cy="1216938"/>
          </a:xfrm>
          <a:prstGeom prst="roundRect">
            <a:avLst>
              <a:gd name="adj" fmla="val 6011"/>
            </a:avLst>
          </a:prstGeom>
          <a:solidFill>
            <a:srgbClr val="FFFFFF"/>
          </a:solidFill>
          <a:ln w="15240">
            <a:solidFill>
              <a:srgbClr val="BCDBD4"/>
            </a:solidFill>
            <a:prstDash val="solid"/>
          </a:ln>
        </p:spPr>
        <p:txBody>
          <a:bodyPr/>
          <a:lstStyle/>
          <a:p>
            <a:endParaRPr lang="en-US"/>
          </a:p>
        </p:txBody>
      </p:sp>
      <p:sp>
        <p:nvSpPr>
          <p:cNvPr id="24" name="Shape 17"/>
          <p:cNvSpPr/>
          <p:nvPr/>
        </p:nvSpPr>
        <p:spPr>
          <a:xfrm>
            <a:off x="9640868" y="6475942"/>
            <a:ext cx="60960" cy="1216938"/>
          </a:xfrm>
          <a:prstGeom prst="roundRect">
            <a:avLst>
              <a:gd name="adj" fmla="val 91225"/>
            </a:avLst>
          </a:prstGeom>
          <a:solidFill>
            <a:srgbClr val="26A688"/>
          </a:solidFill>
          <a:ln/>
        </p:spPr>
        <p:txBody>
          <a:bodyPr/>
          <a:lstStyle/>
          <a:p>
            <a:endParaRPr lang="en-US"/>
          </a:p>
        </p:txBody>
      </p:sp>
      <p:sp>
        <p:nvSpPr>
          <p:cNvPr id="25" name="Text 18"/>
          <p:cNvSpPr/>
          <p:nvPr/>
        </p:nvSpPr>
        <p:spPr>
          <a:xfrm>
            <a:off x="9849466" y="6623580"/>
            <a:ext cx="2225516" cy="206812"/>
          </a:xfrm>
          <a:prstGeom prst="rect">
            <a:avLst/>
          </a:prstGeom>
          <a:noFill/>
          <a:ln/>
        </p:spPr>
        <p:txBody>
          <a:bodyPr wrap="none" lIns="0" tIns="0" rIns="0" bIns="0" rtlCol="0" anchor="t"/>
          <a:lstStyle/>
          <a:p>
            <a:pPr marL="0" indent="0" algn="l">
              <a:lnSpc>
                <a:spcPts val="1600"/>
              </a:lnSpc>
              <a:buNone/>
            </a:pPr>
            <a:r>
              <a:rPr lang="en-US" sz="1300" b="1">
                <a:solidFill>
                  <a:srgbClr val="333F70"/>
                </a:solidFill>
                <a:latin typeface="Unbounded Bold" pitchFamily="34" charset="0"/>
                <a:ea typeface="Unbounded Bold" pitchFamily="34" charset="-122"/>
                <a:cs typeface="Unbounded Bold" pitchFamily="34" charset="-120"/>
              </a:rPr>
              <a:t>Detection Challenges</a:t>
            </a:r>
            <a:endParaRPr lang="en-US" sz="1300"/>
          </a:p>
        </p:txBody>
      </p:sp>
      <p:sp>
        <p:nvSpPr>
          <p:cNvPr id="26" name="Text 19"/>
          <p:cNvSpPr/>
          <p:nvPr/>
        </p:nvSpPr>
        <p:spPr>
          <a:xfrm>
            <a:off x="9849466" y="6909806"/>
            <a:ext cx="4138613" cy="635437"/>
          </a:xfrm>
          <a:prstGeom prst="rect">
            <a:avLst/>
          </a:prstGeom>
          <a:noFill/>
          <a:ln/>
        </p:spPr>
        <p:txBody>
          <a:bodyPr wrap="square" lIns="0" tIns="0" rIns="0" bIns="0" rtlCol="0" anchor="t"/>
          <a:lstStyle/>
          <a:p>
            <a:pPr marL="0" indent="0" algn="l">
              <a:lnSpc>
                <a:spcPts val="1650"/>
              </a:lnSpc>
              <a:buNone/>
            </a:pPr>
            <a:r>
              <a:rPr lang="en-US" sz="1000">
                <a:solidFill>
                  <a:srgbClr val="333F70"/>
                </a:solidFill>
                <a:latin typeface="Open Sans" pitchFamily="34" charset="0"/>
                <a:ea typeface="Open Sans" pitchFamily="34" charset="-122"/>
                <a:cs typeface="Open Sans" pitchFamily="34" charset="-120"/>
              </a:rPr>
              <a:t>The continuous advancement in deepfake generation makes detection increasingly complex, demanding models that learn intricate, higher-order acoustic features.</a:t>
            </a:r>
            <a:endParaRPr lang="en-US" sz="10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957"/>
          </a:xfrm>
          <a:prstGeom prst="rect">
            <a:avLst/>
          </a:prstGeom>
        </p:spPr>
      </p:pic>
      <p:sp>
        <p:nvSpPr>
          <p:cNvPr id="3" name="Text 0"/>
          <p:cNvSpPr/>
          <p:nvPr/>
        </p:nvSpPr>
        <p:spPr>
          <a:xfrm>
            <a:off x="643295" y="505420"/>
            <a:ext cx="7857411" cy="1148953"/>
          </a:xfrm>
          <a:prstGeom prst="rect">
            <a:avLst/>
          </a:prstGeom>
          <a:noFill/>
          <a:ln/>
        </p:spPr>
        <p:txBody>
          <a:bodyPr wrap="square" lIns="0" tIns="0" rIns="0" bIns="0" rtlCol="0" anchor="t"/>
          <a:lstStyle/>
          <a:p>
            <a:pPr marL="0" indent="0" algn="l">
              <a:lnSpc>
                <a:spcPts val="4500"/>
              </a:lnSpc>
              <a:buNone/>
            </a:pPr>
            <a:r>
              <a:rPr lang="en-US" sz="3600" b="1">
                <a:solidFill>
                  <a:srgbClr val="333F70"/>
                </a:solidFill>
                <a:latin typeface="Unbounded Bold" pitchFamily="34" charset="0"/>
                <a:ea typeface="Unbounded Bold" pitchFamily="34" charset="-122"/>
                <a:cs typeface="Unbounded Bold" pitchFamily="34" charset="-120"/>
              </a:rPr>
              <a:t>System Architecture Overview</a:t>
            </a:r>
            <a:endParaRPr lang="en-US" sz="3600"/>
          </a:p>
        </p:txBody>
      </p:sp>
      <p:sp>
        <p:nvSpPr>
          <p:cNvPr id="4" name="Text 1"/>
          <p:cNvSpPr/>
          <p:nvPr/>
        </p:nvSpPr>
        <p:spPr>
          <a:xfrm>
            <a:off x="643295" y="1930003"/>
            <a:ext cx="7857411" cy="1176337"/>
          </a:xfrm>
          <a:prstGeom prst="rect">
            <a:avLst/>
          </a:prstGeom>
          <a:noFill/>
          <a:ln/>
        </p:spPr>
        <p:txBody>
          <a:bodyPr wrap="square" lIns="0" tIns="0" rIns="0" bIns="0" rtlCol="0" anchor="t"/>
          <a:lstStyle/>
          <a:p>
            <a:pPr marL="0" indent="0" algn="l">
              <a:lnSpc>
                <a:spcPts val="2300"/>
              </a:lnSpc>
              <a:buNone/>
            </a:pPr>
            <a:r>
              <a:rPr lang="en-US" sz="1400">
                <a:solidFill>
                  <a:srgbClr val="333F70"/>
                </a:solidFill>
                <a:latin typeface="Open Sans" pitchFamily="34" charset="0"/>
                <a:ea typeface="Open Sans" pitchFamily="34" charset="-122"/>
                <a:cs typeface="Open Sans" pitchFamily="34" charset="-120"/>
              </a:rPr>
              <a:t>SafeTone implements an end-to-end deepfake detection pipeline with modular architecture designed for practical deployment. The system processes raw audio input through sophisticated feature extraction and classification stages to produce reliable authenticity assessments.</a:t>
            </a:r>
            <a:endParaRPr lang="en-US" sz="1400"/>
          </a:p>
        </p:txBody>
      </p:sp>
      <p:pic>
        <p:nvPicPr>
          <p:cNvPr id="5" name="Image 1" descr="preencoded.png"/>
          <p:cNvPicPr>
            <a:picLocks noChangeAspect="1"/>
          </p:cNvPicPr>
          <p:nvPr/>
        </p:nvPicPr>
        <p:blipFill>
          <a:blip r:embed="rId4"/>
          <a:stretch>
            <a:fillRect/>
          </a:stretch>
        </p:blipFill>
        <p:spPr>
          <a:xfrm>
            <a:off x="643295" y="3313033"/>
            <a:ext cx="919043" cy="1102876"/>
          </a:xfrm>
          <a:prstGeom prst="rect">
            <a:avLst/>
          </a:prstGeom>
        </p:spPr>
      </p:pic>
      <p:sp>
        <p:nvSpPr>
          <p:cNvPr id="6" name="Text 2"/>
          <p:cNvSpPr/>
          <p:nvPr/>
        </p:nvSpPr>
        <p:spPr>
          <a:xfrm>
            <a:off x="1746052" y="3496747"/>
            <a:ext cx="2297787" cy="287179"/>
          </a:xfrm>
          <a:prstGeom prst="rect">
            <a:avLst/>
          </a:prstGeom>
          <a:noFill/>
          <a:ln/>
        </p:spPr>
        <p:txBody>
          <a:bodyPr wrap="none" lIns="0" tIns="0" rIns="0" bIns="0" rtlCol="0" anchor="t"/>
          <a:lstStyle/>
          <a:p>
            <a:pPr marL="0" indent="0" algn="l">
              <a:lnSpc>
                <a:spcPts val="2250"/>
              </a:lnSpc>
              <a:buNone/>
            </a:pPr>
            <a:r>
              <a:rPr lang="en-US" sz="1800" b="1">
                <a:solidFill>
                  <a:srgbClr val="333F70"/>
                </a:solidFill>
                <a:latin typeface="Unbounded Bold" pitchFamily="34" charset="0"/>
                <a:ea typeface="Unbounded Bold" pitchFamily="34" charset="-122"/>
                <a:cs typeface="Unbounded Bold" pitchFamily="34" charset="-120"/>
              </a:rPr>
              <a:t>Audio Input</a:t>
            </a:r>
            <a:endParaRPr lang="en-US" sz="1800"/>
          </a:p>
        </p:txBody>
      </p:sp>
      <p:sp>
        <p:nvSpPr>
          <p:cNvPr id="7" name="Text 3"/>
          <p:cNvSpPr/>
          <p:nvPr/>
        </p:nvSpPr>
        <p:spPr>
          <a:xfrm>
            <a:off x="1746052" y="3894177"/>
            <a:ext cx="6754654" cy="294084"/>
          </a:xfrm>
          <a:prstGeom prst="rect">
            <a:avLst/>
          </a:prstGeom>
          <a:noFill/>
          <a:ln/>
        </p:spPr>
        <p:txBody>
          <a:bodyPr wrap="none" lIns="0" tIns="0" rIns="0" bIns="0" rtlCol="0" anchor="t"/>
          <a:lstStyle/>
          <a:p>
            <a:pPr marL="0" indent="0" algn="l">
              <a:lnSpc>
                <a:spcPts val="2300"/>
              </a:lnSpc>
              <a:buNone/>
            </a:pPr>
            <a:r>
              <a:rPr lang="en-US" sz="1400">
                <a:solidFill>
                  <a:srgbClr val="333F70"/>
                </a:solidFill>
                <a:latin typeface="Open Sans" pitchFamily="34" charset="0"/>
                <a:ea typeface="Open Sans" pitchFamily="34" charset="-122"/>
                <a:cs typeface="Open Sans" pitchFamily="34" charset="-120"/>
              </a:rPr>
              <a:t>Raw waveform data sampled at 16 kHz</a:t>
            </a:r>
            <a:endParaRPr lang="en-US" sz="1400"/>
          </a:p>
        </p:txBody>
      </p:sp>
      <p:pic>
        <p:nvPicPr>
          <p:cNvPr id="8" name="Image 2" descr="preencoded.png"/>
          <p:cNvPicPr>
            <a:picLocks noChangeAspect="1"/>
          </p:cNvPicPr>
          <p:nvPr/>
        </p:nvPicPr>
        <p:blipFill>
          <a:blip r:embed="rId5"/>
          <a:stretch>
            <a:fillRect/>
          </a:stretch>
        </p:blipFill>
        <p:spPr>
          <a:xfrm>
            <a:off x="643295" y="4415909"/>
            <a:ext cx="919043" cy="1102876"/>
          </a:xfrm>
          <a:prstGeom prst="rect">
            <a:avLst/>
          </a:prstGeom>
        </p:spPr>
      </p:pic>
      <p:sp>
        <p:nvSpPr>
          <p:cNvPr id="9" name="Text 4"/>
          <p:cNvSpPr/>
          <p:nvPr/>
        </p:nvSpPr>
        <p:spPr>
          <a:xfrm>
            <a:off x="1746052" y="4599623"/>
            <a:ext cx="2740462" cy="287179"/>
          </a:xfrm>
          <a:prstGeom prst="rect">
            <a:avLst/>
          </a:prstGeom>
          <a:noFill/>
          <a:ln/>
        </p:spPr>
        <p:txBody>
          <a:bodyPr wrap="none" lIns="0" tIns="0" rIns="0" bIns="0" rtlCol="0" anchor="t"/>
          <a:lstStyle/>
          <a:p>
            <a:pPr marL="0" indent="0" algn="l">
              <a:lnSpc>
                <a:spcPts val="2250"/>
              </a:lnSpc>
              <a:buNone/>
            </a:pPr>
            <a:r>
              <a:rPr lang="en-US" sz="1800" b="1">
                <a:solidFill>
                  <a:srgbClr val="333F70"/>
                </a:solidFill>
                <a:latin typeface="Unbounded Bold" pitchFamily="34" charset="0"/>
                <a:ea typeface="Unbounded Bold" pitchFamily="34" charset="-122"/>
                <a:cs typeface="Unbounded Bold" pitchFamily="34" charset="-120"/>
              </a:rPr>
              <a:t>Feature Extraction</a:t>
            </a:r>
            <a:endParaRPr lang="en-US" sz="1800"/>
          </a:p>
        </p:txBody>
      </p:sp>
      <p:sp>
        <p:nvSpPr>
          <p:cNvPr id="10" name="Text 5"/>
          <p:cNvSpPr/>
          <p:nvPr/>
        </p:nvSpPr>
        <p:spPr>
          <a:xfrm>
            <a:off x="1746052" y="4997053"/>
            <a:ext cx="6754654" cy="294084"/>
          </a:xfrm>
          <a:prstGeom prst="rect">
            <a:avLst/>
          </a:prstGeom>
          <a:noFill/>
          <a:ln/>
        </p:spPr>
        <p:txBody>
          <a:bodyPr wrap="none" lIns="0" tIns="0" rIns="0" bIns="0" rtlCol="0" anchor="t"/>
          <a:lstStyle/>
          <a:p>
            <a:pPr marL="0" indent="0" algn="l">
              <a:lnSpc>
                <a:spcPts val="2300"/>
              </a:lnSpc>
              <a:buNone/>
            </a:pPr>
            <a:r>
              <a:rPr lang="en-US" sz="1400">
                <a:solidFill>
                  <a:srgbClr val="333F70"/>
                </a:solidFill>
                <a:latin typeface="Open Sans" pitchFamily="34" charset="0"/>
                <a:ea typeface="Open Sans" pitchFamily="34" charset="-122"/>
                <a:cs typeface="Open Sans" pitchFamily="34" charset="-120"/>
              </a:rPr>
              <a:t>MFCC computation and normalization</a:t>
            </a:r>
            <a:endParaRPr lang="en-US" sz="1400"/>
          </a:p>
        </p:txBody>
      </p:sp>
      <p:pic>
        <p:nvPicPr>
          <p:cNvPr id="11" name="Image 3" descr="preencoded.png"/>
          <p:cNvPicPr>
            <a:picLocks noChangeAspect="1"/>
          </p:cNvPicPr>
          <p:nvPr/>
        </p:nvPicPr>
        <p:blipFill>
          <a:blip r:embed="rId6"/>
          <a:stretch>
            <a:fillRect/>
          </a:stretch>
        </p:blipFill>
        <p:spPr>
          <a:xfrm>
            <a:off x="643295" y="5518785"/>
            <a:ext cx="919043" cy="1102876"/>
          </a:xfrm>
          <a:prstGeom prst="rect">
            <a:avLst/>
          </a:prstGeom>
        </p:spPr>
      </p:pic>
      <p:sp>
        <p:nvSpPr>
          <p:cNvPr id="12" name="Text 6"/>
          <p:cNvSpPr/>
          <p:nvPr/>
        </p:nvSpPr>
        <p:spPr>
          <a:xfrm>
            <a:off x="1746052" y="5702498"/>
            <a:ext cx="2756535" cy="287179"/>
          </a:xfrm>
          <a:prstGeom prst="rect">
            <a:avLst/>
          </a:prstGeom>
          <a:noFill/>
          <a:ln/>
        </p:spPr>
        <p:txBody>
          <a:bodyPr wrap="none" lIns="0" tIns="0" rIns="0" bIns="0" rtlCol="0" anchor="t"/>
          <a:lstStyle/>
          <a:p>
            <a:pPr marL="0" indent="0" algn="l">
              <a:lnSpc>
                <a:spcPts val="2250"/>
              </a:lnSpc>
              <a:buNone/>
            </a:pPr>
            <a:r>
              <a:rPr lang="en-US" sz="1800" b="1">
                <a:solidFill>
                  <a:srgbClr val="333F70"/>
                </a:solidFill>
                <a:latin typeface="Unbounded Bold" pitchFamily="34" charset="0"/>
                <a:ea typeface="Unbounded Bold" pitchFamily="34" charset="-122"/>
                <a:cs typeface="Unbounded Bold" pitchFamily="34" charset="-120"/>
              </a:rPr>
              <a:t>CNN Classification</a:t>
            </a:r>
            <a:endParaRPr lang="en-US" sz="1800"/>
          </a:p>
        </p:txBody>
      </p:sp>
      <p:sp>
        <p:nvSpPr>
          <p:cNvPr id="13" name="Text 7"/>
          <p:cNvSpPr/>
          <p:nvPr/>
        </p:nvSpPr>
        <p:spPr>
          <a:xfrm>
            <a:off x="1746052" y="6099929"/>
            <a:ext cx="6754654" cy="294084"/>
          </a:xfrm>
          <a:prstGeom prst="rect">
            <a:avLst/>
          </a:prstGeom>
          <a:noFill/>
          <a:ln/>
        </p:spPr>
        <p:txBody>
          <a:bodyPr wrap="none" lIns="0" tIns="0" rIns="0" bIns="0" rtlCol="0" anchor="t"/>
          <a:lstStyle/>
          <a:p>
            <a:pPr marL="0" indent="0" algn="l">
              <a:lnSpc>
                <a:spcPts val="2300"/>
              </a:lnSpc>
              <a:buNone/>
            </a:pPr>
            <a:r>
              <a:rPr lang="en-US" sz="1400">
                <a:solidFill>
                  <a:srgbClr val="333F70"/>
                </a:solidFill>
                <a:latin typeface="Open Sans" pitchFamily="34" charset="0"/>
                <a:ea typeface="Open Sans" pitchFamily="34" charset="-122"/>
                <a:cs typeface="Open Sans" pitchFamily="34" charset="-120"/>
              </a:rPr>
              <a:t>Deep learning inference and probability estimation</a:t>
            </a:r>
            <a:endParaRPr lang="en-US" sz="1400"/>
          </a:p>
        </p:txBody>
      </p:sp>
      <p:pic>
        <p:nvPicPr>
          <p:cNvPr id="14" name="Image 4" descr="preencoded.png"/>
          <p:cNvPicPr>
            <a:picLocks noChangeAspect="1"/>
          </p:cNvPicPr>
          <p:nvPr/>
        </p:nvPicPr>
        <p:blipFill>
          <a:blip r:embed="rId7"/>
          <a:stretch>
            <a:fillRect/>
          </a:stretch>
        </p:blipFill>
        <p:spPr>
          <a:xfrm>
            <a:off x="643295" y="6621661"/>
            <a:ext cx="919043" cy="1102876"/>
          </a:xfrm>
          <a:prstGeom prst="rect">
            <a:avLst/>
          </a:prstGeom>
        </p:spPr>
      </p:pic>
      <p:sp>
        <p:nvSpPr>
          <p:cNvPr id="15" name="Text 8"/>
          <p:cNvSpPr/>
          <p:nvPr/>
        </p:nvSpPr>
        <p:spPr>
          <a:xfrm>
            <a:off x="1746052" y="6805374"/>
            <a:ext cx="2333030" cy="287179"/>
          </a:xfrm>
          <a:prstGeom prst="rect">
            <a:avLst/>
          </a:prstGeom>
          <a:noFill/>
          <a:ln/>
        </p:spPr>
        <p:txBody>
          <a:bodyPr wrap="none" lIns="0" tIns="0" rIns="0" bIns="0" rtlCol="0" anchor="t"/>
          <a:lstStyle/>
          <a:p>
            <a:pPr marL="0" indent="0" algn="l">
              <a:lnSpc>
                <a:spcPts val="2250"/>
              </a:lnSpc>
              <a:buNone/>
            </a:pPr>
            <a:r>
              <a:rPr lang="en-US" sz="1800" b="1">
                <a:solidFill>
                  <a:srgbClr val="333F70"/>
                </a:solidFill>
                <a:latin typeface="Unbounded Bold" pitchFamily="34" charset="0"/>
                <a:ea typeface="Unbounded Bold" pitchFamily="34" charset="-122"/>
                <a:cs typeface="Unbounded Bold" pitchFamily="34" charset="-120"/>
              </a:rPr>
              <a:t>Decision Output</a:t>
            </a:r>
            <a:endParaRPr lang="en-US" sz="1800"/>
          </a:p>
        </p:txBody>
      </p:sp>
      <p:sp>
        <p:nvSpPr>
          <p:cNvPr id="16" name="Text 9"/>
          <p:cNvSpPr/>
          <p:nvPr/>
        </p:nvSpPr>
        <p:spPr>
          <a:xfrm>
            <a:off x="1746052" y="7202805"/>
            <a:ext cx="6754654" cy="294084"/>
          </a:xfrm>
          <a:prstGeom prst="rect">
            <a:avLst/>
          </a:prstGeom>
          <a:noFill/>
          <a:ln/>
        </p:spPr>
        <p:txBody>
          <a:bodyPr wrap="none" lIns="0" tIns="0" rIns="0" bIns="0" rtlCol="0" anchor="t"/>
          <a:lstStyle/>
          <a:p>
            <a:pPr marL="0" indent="0" algn="l">
              <a:lnSpc>
                <a:spcPts val="2300"/>
              </a:lnSpc>
              <a:buNone/>
            </a:pPr>
            <a:r>
              <a:rPr lang="en-US" sz="1400">
                <a:solidFill>
                  <a:srgbClr val="333F70"/>
                </a:solidFill>
                <a:latin typeface="Open Sans" pitchFamily="34" charset="0"/>
                <a:ea typeface="Open Sans" pitchFamily="34" charset="-122"/>
                <a:cs typeface="Open Sans" pitchFamily="34" charset="-120"/>
              </a:rPr>
              <a:t>Binary classification with confidence score</a:t>
            </a:r>
            <a:endParaRPr 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16982" y="517565"/>
            <a:ext cx="1014413" cy="331470"/>
          </a:xfrm>
          <a:prstGeom prst="roundRect">
            <a:avLst>
              <a:gd name="adj" fmla="val 17870"/>
            </a:avLst>
          </a:prstGeom>
          <a:solidFill>
            <a:srgbClr val="D6F5EE"/>
          </a:solidFill>
          <a:ln/>
        </p:spPr>
        <p:txBody>
          <a:bodyPr/>
          <a:lstStyle/>
          <a:p>
            <a:endParaRPr lang="en-US"/>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2709" y="612815"/>
            <a:ext cx="140970" cy="140970"/>
          </a:xfrm>
          <a:prstGeom prst="rect">
            <a:avLst/>
          </a:prstGeom>
        </p:spPr>
      </p:pic>
      <p:sp>
        <p:nvSpPr>
          <p:cNvPr id="4" name="Text 1"/>
          <p:cNvSpPr/>
          <p:nvPr/>
        </p:nvSpPr>
        <p:spPr>
          <a:xfrm>
            <a:off x="934164" y="570428"/>
            <a:ext cx="591503" cy="225743"/>
          </a:xfrm>
          <a:prstGeom prst="rect">
            <a:avLst/>
          </a:prstGeom>
          <a:noFill/>
          <a:ln/>
        </p:spPr>
        <p:txBody>
          <a:bodyPr wrap="none" lIns="0" tIns="0" rIns="0" bIns="0" rtlCol="0" anchor="t"/>
          <a:lstStyle/>
          <a:p>
            <a:pPr marL="0" indent="0" algn="l">
              <a:lnSpc>
                <a:spcPts val="1750"/>
              </a:lnSpc>
              <a:buNone/>
            </a:pPr>
            <a:r>
              <a:rPr lang="en-US" sz="1100">
                <a:solidFill>
                  <a:srgbClr val="333F70"/>
                </a:solidFill>
                <a:latin typeface="Open Sans" pitchFamily="34" charset="0"/>
                <a:ea typeface="Open Sans" pitchFamily="34" charset="-122"/>
                <a:cs typeface="Open Sans" pitchFamily="34" charset="-120"/>
              </a:rPr>
              <a:t>DATASET</a:t>
            </a:r>
            <a:endParaRPr lang="en-US" sz="1100"/>
          </a:p>
        </p:txBody>
      </p:sp>
      <p:sp>
        <p:nvSpPr>
          <p:cNvPr id="5" name="Text 2"/>
          <p:cNvSpPr/>
          <p:nvPr/>
        </p:nvSpPr>
        <p:spPr>
          <a:xfrm>
            <a:off x="616982" y="919520"/>
            <a:ext cx="7353657" cy="550902"/>
          </a:xfrm>
          <a:prstGeom prst="rect">
            <a:avLst/>
          </a:prstGeom>
          <a:noFill/>
          <a:ln/>
        </p:spPr>
        <p:txBody>
          <a:bodyPr wrap="none" lIns="0" tIns="0" rIns="0" bIns="0" rtlCol="0" anchor="t"/>
          <a:lstStyle/>
          <a:p>
            <a:pPr marL="0" indent="0" algn="l">
              <a:lnSpc>
                <a:spcPts val="4300"/>
              </a:lnSpc>
              <a:buNone/>
            </a:pPr>
            <a:r>
              <a:rPr lang="en-US" sz="3450" b="1">
                <a:solidFill>
                  <a:srgbClr val="333F70"/>
                </a:solidFill>
                <a:latin typeface="Unbounded Bold" pitchFamily="34" charset="0"/>
                <a:ea typeface="Unbounded Bold" pitchFamily="34" charset="-122"/>
                <a:cs typeface="Unbounded Bold" pitchFamily="34" charset="-120"/>
              </a:rPr>
              <a:t>Fake-or-Real (FoR) Dataset</a:t>
            </a:r>
            <a:endParaRPr lang="en-US" sz="3450"/>
          </a:p>
        </p:txBody>
      </p:sp>
      <p:sp>
        <p:nvSpPr>
          <p:cNvPr id="6" name="Text 3"/>
          <p:cNvSpPr/>
          <p:nvPr/>
        </p:nvSpPr>
        <p:spPr>
          <a:xfrm>
            <a:off x="616982" y="1893332"/>
            <a:ext cx="7865745" cy="846177"/>
          </a:xfrm>
          <a:prstGeom prst="rect">
            <a:avLst/>
          </a:prstGeom>
          <a:noFill/>
          <a:ln/>
        </p:spPr>
        <p:txBody>
          <a:bodyPr wrap="square" lIns="0" tIns="0" rIns="0" bIns="0" rtlCol="0" anchor="t"/>
          <a:lstStyle/>
          <a:p>
            <a:pPr marL="0" indent="0" algn="l">
              <a:lnSpc>
                <a:spcPts val="2200"/>
              </a:lnSpc>
              <a:buNone/>
            </a:pPr>
            <a:r>
              <a:rPr lang="en-US" sz="1350">
                <a:solidFill>
                  <a:srgbClr val="333F70"/>
                </a:solidFill>
                <a:latin typeface="Open Sans" pitchFamily="34" charset="0"/>
                <a:ea typeface="Open Sans" pitchFamily="34" charset="-122"/>
                <a:cs typeface="Open Sans" pitchFamily="34" charset="-120"/>
              </a:rPr>
              <a:t>The model was trained and evaluated using the publicly available Fake-or-Real (FoR) dataset, a comprehensive collection specifically curated for audio deepfake detection research. This balanced dataset provides diverse examples of both authentic and synthetic speech samples.</a:t>
            </a:r>
            <a:endParaRPr lang="en-US" sz="1350"/>
          </a:p>
        </p:txBody>
      </p:sp>
      <p:sp>
        <p:nvSpPr>
          <p:cNvPr id="7" name="Text 4"/>
          <p:cNvSpPr/>
          <p:nvPr/>
        </p:nvSpPr>
        <p:spPr>
          <a:xfrm>
            <a:off x="616982" y="3025854"/>
            <a:ext cx="3822740" cy="581739"/>
          </a:xfrm>
          <a:prstGeom prst="rect">
            <a:avLst/>
          </a:prstGeom>
          <a:noFill/>
          <a:ln/>
        </p:spPr>
        <p:txBody>
          <a:bodyPr wrap="none" lIns="0" tIns="0" rIns="0" bIns="0" rtlCol="0" anchor="t"/>
          <a:lstStyle/>
          <a:p>
            <a:pPr marL="0" indent="0" algn="ctr">
              <a:lnSpc>
                <a:spcPts val="4550"/>
              </a:lnSpc>
              <a:buNone/>
            </a:pPr>
            <a:r>
              <a:rPr lang="en-US" sz="4550" b="1">
                <a:solidFill>
                  <a:srgbClr val="333F70"/>
                </a:solidFill>
                <a:latin typeface="Unbounded Bold" pitchFamily="34" charset="0"/>
                <a:ea typeface="Unbounded Bold" pitchFamily="34" charset="-122"/>
                <a:cs typeface="Unbounded Bold" pitchFamily="34" charset="-120"/>
              </a:rPr>
              <a:t>21,235</a:t>
            </a:r>
            <a:endParaRPr lang="en-US" sz="4550"/>
          </a:p>
        </p:txBody>
      </p:sp>
      <p:sp>
        <p:nvSpPr>
          <p:cNvPr id="8" name="Text 5"/>
          <p:cNvSpPr/>
          <p:nvPr/>
        </p:nvSpPr>
        <p:spPr>
          <a:xfrm>
            <a:off x="1426488" y="3827859"/>
            <a:ext cx="2203609" cy="275392"/>
          </a:xfrm>
          <a:prstGeom prst="rect">
            <a:avLst/>
          </a:prstGeom>
          <a:noFill/>
          <a:ln/>
        </p:spPr>
        <p:txBody>
          <a:bodyPr wrap="none" lIns="0" tIns="0" rIns="0" bIns="0" rtlCol="0" anchor="t"/>
          <a:lstStyle/>
          <a:p>
            <a:pPr marL="0" indent="0" algn="ctr">
              <a:lnSpc>
                <a:spcPts val="2150"/>
              </a:lnSpc>
              <a:buNone/>
            </a:pPr>
            <a:r>
              <a:rPr lang="en-US" sz="1700" b="1">
                <a:solidFill>
                  <a:srgbClr val="333F70"/>
                </a:solidFill>
                <a:latin typeface="Unbounded Bold" pitchFamily="34" charset="0"/>
                <a:ea typeface="Unbounded Bold" pitchFamily="34" charset="-122"/>
                <a:cs typeface="Unbounded Bold" pitchFamily="34" charset="-120"/>
              </a:rPr>
              <a:t>Total Samples</a:t>
            </a:r>
            <a:endParaRPr lang="en-US" sz="1700"/>
          </a:p>
        </p:txBody>
      </p:sp>
      <p:sp>
        <p:nvSpPr>
          <p:cNvPr id="9" name="Text 6"/>
          <p:cNvSpPr/>
          <p:nvPr/>
        </p:nvSpPr>
        <p:spPr>
          <a:xfrm>
            <a:off x="616982" y="4279463"/>
            <a:ext cx="3822740" cy="282059"/>
          </a:xfrm>
          <a:prstGeom prst="rect">
            <a:avLst/>
          </a:prstGeom>
          <a:noFill/>
          <a:ln/>
        </p:spPr>
        <p:txBody>
          <a:bodyPr wrap="none" lIns="0" tIns="0" rIns="0" bIns="0" rtlCol="0" anchor="t"/>
          <a:lstStyle/>
          <a:p>
            <a:pPr marL="0" indent="0" algn="ctr">
              <a:lnSpc>
                <a:spcPts val="2200"/>
              </a:lnSpc>
              <a:buNone/>
            </a:pPr>
            <a:r>
              <a:rPr lang="en-US" sz="1350">
                <a:solidFill>
                  <a:srgbClr val="333F70"/>
                </a:solidFill>
                <a:latin typeface="Open Sans" pitchFamily="34" charset="0"/>
                <a:ea typeface="Open Sans" pitchFamily="34" charset="-122"/>
                <a:cs typeface="Open Sans" pitchFamily="34" charset="-120"/>
              </a:rPr>
              <a:t>Complete dataset size</a:t>
            </a:r>
            <a:endParaRPr lang="en-US" sz="1350"/>
          </a:p>
        </p:txBody>
      </p:sp>
      <p:sp>
        <p:nvSpPr>
          <p:cNvPr id="10" name="Text 7"/>
          <p:cNvSpPr/>
          <p:nvPr/>
        </p:nvSpPr>
        <p:spPr>
          <a:xfrm>
            <a:off x="4659987" y="3025854"/>
            <a:ext cx="3822740" cy="581739"/>
          </a:xfrm>
          <a:prstGeom prst="rect">
            <a:avLst/>
          </a:prstGeom>
          <a:noFill/>
          <a:ln/>
        </p:spPr>
        <p:txBody>
          <a:bodyPr wrap="none" lIns="0" tIns="0" rIns="0" bIns="0" rtlCol="0" anchor="t"/>
          <a:lstStyle/>
          <a:p>
            <a:pPr marL="0" indent="0" algn="ctr">
              <a:lnSpc>
                <a:spcPts val="4550"/>
              </a:lnSpc>
              <a:buNone/>
            </a:pPr>
            <a:r>
              <a:rPr lang="en-US" sz="4550" b="1">
                <a:solidFill>
                  <a:srgbClr val="333F70"/>
                </a:solidFill>
                <a:latin typeface="Unbounded Bold" pitchFamily="34" charset="0"/>
                <a:ea typeface="Unbounded Bold" pitchFamily="34" charset="-122"/>
                <a:cs typeface="Unbounded Bold" pitchFamily="34" charset="-120"/>
              </a:rPr>
              <a:t>10,718</a:t>
            </a:r>
            <a:endParaRPr lang="en-US" sz="4550"/>
          </a:p>
        </p:txBody>
      </p:sp>
      <p:sp>
        <p:nvSpPr>
          <p:cNvPr id="11" name="Text 8"/>
          <p:cNvSpPr/>
          <p:nvPr/>
        </p:nvSpPr>
        <p:spPr>
          <a:xfrm>
            <a:off x="5469493" y="3827859"/>
            <a:ext cx="2203609" cy="275392"/>
          </a:xfrm>
          <a:prstGeom prst="rect">
            <a:avLst/>
          </a:prstGeom>
          <a:noFill/>
          <a:ln/>
        </p:spPr>
        <p:txBody>
          <a:bodyPr wrap="none" lIns="0" tIns="0" rIns="0" bIns="0" rtlCol="0" anchor="t"/>
          <a:lstStyle/>
          <a:p>
            <a:pPr marL="0" indent="0" algn="ctr">
              <a:lnSpc>
                <a:spcPts val="2150"/>
              </a:lnSpc>
              <a:buNone/>
            </a:pPr>
            <a:r>
              <a:rPr lang="en-US" sz="1700" b="1">
                <a:solidFill>
                  <a:srgbClr val="333F70"/>
                </a:solidFill>
                <a:latin typeface="Unbounded Bold" pitchFamily="34" charset="0"/>
                <a:ea typeface="Unbounded Bold" pitchFamily="34" charset="-122"/>
                <a:cs typeface="Unbounded Bold" pitchFamily="34" charset="-120"/>
              </a:rPr>
              <a:t>Real Audio</a:t>
            </a:r>
            <a:endParaRPr lang="en-US" sz="1700"/>
          </a:p>
        </p:txBody>
      </p:sp>
      <p:sp>
        <p:nvSpPr>
          <p:cNvPr id="12" name="Text 9"/>
          <p:cNvSpPr/>
          <p:nvPr/>
        </p:nvSpPr>
        <p:spPr>
          <a:xfrm>
            <a:off x="4659987" y="4279463"/>
            <a:ext cx="3822740" cy="282059"/>
          </a:xfrm>
          <a:prstGeom prst="rect">
            <a:avLst/>
          </a:prstGeom>
          <a:noFill/>
          <a:ln/>
        </p:spPr>
        <p:txBody>
          <a:bodyPr wrap="none" lIns="0" tIns="0" rIns="0" bIns="0" rtlCol="0" anchor="t"/>
          <a:lstStyle/>
          <a:p>
            <a:pPr marL="0" indent="0" algn="ctr">
              <a:lnSpc>
                <a:spcPts val="2200"/>
              </a:lnSpc>
              <a:buNone/>
            </a:pPr>
            <a:r>
              <a:rPr lang="en-US" sz="1350">
                <a:solidFill>
                  <a:srgbClr val="333F70"/>
                </a:solidFill>
                <a:latin typeface="Open Sans" pitchFamily="34" charset="0"/>
                <a:ea typeface="Open Sans" pitchFamily="34" charset="-122"/>
                <a:cs typeface="Open Sans" pitchFamily="34" charset="-120"/>
              </a:rPr>
              <a:t>Authentic human speech</a:t>
            </a:r>
            <a:endParaRPr lang="en-US" sz="1350"/>
          </a:p>
        </p:txBody>
      </p:sp>
      <p:sp>
        <p:nvSpPr>
          <p:cNvPr id="13" name="Text 10"/>
          <p:cNvSpPr/>
          <p:nvPr/>
        </p:nvSpPr>
        <p:spPr>
          <a:xfrm>
            <a:off x="2638425" y="5002173"/>
            <a:ext cx="3822740" cy="581739"/>
          </a:xfrm>
          <a:prstGeom prst="rect">
            <a:avLst/>
          </a:prstGeom>
          <a:noFill/>
          <a:ln/>
        </p:spPr>
        <p:txBody>
          <a:bodyPr wrap="none" lIns="0" tIns="0" rIns="0" bIns="0" rtlCol="0" anchor="t"/>
          <a:lstStyle/>
          <a:p>
            <a:pPr marL="0" indent="0" algn="ctr">
              <a:lnSpc>
                <a:spcPts val="4550"/>
              </a:lnSpc>
              <a:buNone/>
            </a:pPr>
            <a:r>
              <a:rPr lang="en-US" sz="4550" b="1">
                <a:solidFill>
                  <a:srgbClr val="333F70"/>
                </a:solidFill>
                <a:latin typeface="Unbounded Bold" pitchFamily="34" charset="0"/>
                <a:ea typeface="Unbounded Bold" pitchFamily="34" charset="-122"/>
                <a:cs typeface="Unbounded Bold" pitchFamily="34" charset="-120"/>
              </a:rPr>
              <a:t>10,517</a:t>
            </a:r>
            <a:endParaRPr lang="en-US" sz="4550"/>
          </a:p>
        </p:txBody>
      </p:sp>
      <p:sp>
        <p:nvSpPr>
          <p:cNvPr id="14" name="Text 11"/>
          <p:cNvSpPr/>
          <p:nvPr/>
        </p:nvSpPr>
        <p:spPr>
          <a:xfrm>
            <a:off x="3447931" y="5804178"/>
            <a:ext cx="2203609" cy="275392"/>
          </a:xfrm>
          <a:prstGeom prst="rect">
            <a:avLst/>
          </a:prstGeom>
          <a:noFill/>
          <a:ln/>
        </p:spPr>
        <p:txBody>
          <a:bodyPr wrap="none" lIns="0" tIns="0" rIns="0" bIns="0" rtlCol="0" anchor="t"/>
          <a:lstStyle/>
          <a:p>
            <a:pPr marL="0" indent="0" algn="ctr">
              <a:lnSpc>
                <a:spcPts val="2150"/>
              </a:lnSpc>
              <a:buNone/>
            </a:pPr>
            <a:r>
              <a:rPr lang="en-US" sz="1700" b="1">
                <a:solidFill>
                  <a:srgbClr val="333F70"/>
                </a:solidFill>
                <a:latin typeface="Unbounded Bold" pitchFamily="34" charset="0"/>
                <a:ea typeface="Unbounded Bold" pitchFamily="34" charset="-122"/>
                <a:cs typeface="Unbounded Bold" pitchFamily="34" charset="-120"/>
              </a:rPr>
              <a:t>Fake Audio</a:t>
            </a:r>
            <a:endParaRPr lang="en-US" sz="1700"/>
          </a:p>
        </p:txBody>
      </p:sp>
      <p:sp>
        <p:nvSpPr>
          <p:cNvPr id="15" name="Text 12"/>
          <p:cNvSpPr/>
          <p:nvPr/>
        </p:nvSpPr>
        <p:spPr>
          <a:xfrm>
            <a:off x="2638425" y="6255782"/>
            <a:ext cx="3822740" cy="282059"/>
          </a:xfrm>
          <a:prstGeom prst="rect">
            <a:avLst/>
          </a:prstGeom>
          <a:noFill/>
          <a:ln/>
        </p:spPr>
        <p:txBody>
          <a:bodyPr wrap="none" lIns="0" tIns="0" rIns="0" bIns="0" rtlCol="0" anchor="t"/>
          <a:lstStyle/>
          <a:p>
            <a:pPr marL="0" indent="0" algn="ctr">
              <a:lnSpc>
                <a:spcPts val="2200"/>
              </a:lnSpc>
              <a:buNone/>
            </a:pPr>
            <a:r>
              <a:rPr lang="en-US" sz="1350">
                <a:solidFill>
                  <a:srgbClr val="333F70"/>
                </a:solidFill>
                <a:latin typeface="Open Sans" pitchFamily="34" charset="0"/>
                <a:ea typeface="Open Sans" pitchFamily="34" charset="-122"/>
                <a:cs typeface="Open Sans" pitchFamily="34" charset="-120"/>
              </a:rPr>
              <a:t>Synthetic generated samples</a:t>
            </a:r>
            <a:endParaRPr lang="en-US" sz="1350"/>
          </a:p>
        </p:txBody>
      </p:sp>
      <p:pic>
        <p:nvPicPr>
          <p:cNvPr id="16" name="Image 1" descr="preencoded.png"/>
          <p:cNvPicPr>
            <a:picLocks noChangeAspect="1"/>
          </p:cNvPicPr>
          <p:nvPr/>
        </p:nvPicPr>
        <p:blipFill>
          <a:blip r:embed="rId5"/>
          <a:stretch>
            <a:fillRect/>
          </a:stretch>
        </p:blipFill>
        <p:spPr>
          <a:xfrm>
            <a:off x="8920401" y="1932980"/>
            <a:ext cx="5100518" cy="5100518"/>
          </a:xfrm>
          <a:prstGeom prst="rect">
            <a:avLst/>
          </a:prstGeom>
        </p:spPr>
      </p:pic>
      <p:sp>
        <p:nvSpPr>
          <p:cNvPr id="17" name="Text 13"/>
          <p:cNvSpPr/>
          <p:nvPr/>
        </p:nvSpPr>
        <p:spPr>
          <a:xfrm>
            <a:off x="616982" y="7429976"/>
            <a:ext cx="13396436" cy="282059"/>
          </a:xfrm>
          <a:prstGeom prst="rect">
            <a:avLst/>
          </a:prstGeom>
          <a:noFill/>
          <a:ln/>
        </p:spPr>
        <p:txBody>
          <a:bodyPr wrap="none" lIns="0" tIns="0" rIns="0" bIns="0" rtlCol="0" anchor="t"/>
          <a:lstStyle/>
          <a:p>
            <a:pPr marL="0" indent="0" algn="l">
              <a:lnSpc>
                <a:spcPts val="2200"/>
              </a:lnSpc>
              <a:buNone/>
            </a:pPr>
            <a:r>
              <a:rPr lang="en-US" sz="1350">
                <a:solidFill>
                  <a:srgbClr val="333F70"/>
                </a:solidFill>
                <a:latin typeface="Open Sans" pitchFamily="34" charset="0"/>
                <a:ea typeface="Open Sans" pitchFamily="34" charset="-122"/>
                <a:cs typeface="Open Sans" pitchFamily="34" charset="-120"/>
              </a:rPr>
              <a:t>All audio samples are standardized at 16 kHz sampling rate, ensuring consistent input characteristics for model training, validation, and testing phases.</a:t>
            </a:r>
            <a:endParaRPr lang="en-US" sz="13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76156" y="782598"/>
            <a:ext cx="7791688" cy="1207294"/>
          </a:xfrm>
          <a:prstGeom prst="rect">
            <a:avLst/>
          </a:prstGeom>
          <a:noFill/>
          <a:ln/>
        </p:spPr>
        <p:txBody>
          <a:bodyPr wrap="square" lIns="0" tIns="0" rIns="0" bIns="0" rtlCol="0" anchor="t"/>
          <a:lstStyle/>
          <a:p>
            <a:pPr marL="0" indent="0" algn="l">
              <a:lnSpc>
                <a:spcPts val="4750"/>
              </a:lnSpc>
              <a:buNone/>
            </a:pPr>
            <a:r>
              <a:rPr lang="en-US" sz="3800" b="1">
                <a:solidFill>
                  <a:srgbClr val="333F70"/>
                </a:solidFill>
                <a:latin typeface="Unbounded Bold" pitchFamily="34" charset="0"/>
                <a:ea typeface="Unbounded Bold" pitchFamily="34" charset="-122"/>
                <a:cs typeface="Unbounded Bold" pitchFamily="34" charset="-120"/>
              </a:rPr>
              <a:t>Feature Extraction: MFCC Analysis</a:t>
            </a:r>
            <a:endParaRPr lang="en-US" sz="3800"/>
          </a:p>
        </p:txBody>
      </p:sp>
      <p:sp>
        <p:nvSpPr>
          <p:cNvPr id="4" name="Text 1"/>
          <p:cNvSpPr/>
          <p:nvPr/>
        </p:nvSpPr>
        <p:spPr>
          <a:xfrm>
            <a:off x="676156" y="2472690"/>
            <a:ext cx="4073366" cy="724376"/>
          </a:xfrm>
          <a:prstGeom prst="rect">
            <a:avLst/>
          </a:prstGeom>
          <a:noFill/>
          <a:ln/>
        </p:spPr>
        <p:txBody>
          <a:bodyPr wrap="square" lIns="0" tIns="0" rIns="0" bIns="0" rtlCol="0" anchor="t"/>
          <a:lstStyle/>
          <a:p>
            <a:pPr marL="0" indent="0" algn="l">
              <a:lnSpc>
                <a:spcPts val="2850"/>
              </a:lnSpc>
              <a:buNone/>
            </a:pPr>
            <a:r>
              <a:rPr lang="en-US" sz="2250" b="1">
                <a:solidFill>
                  <a:srgbClr val="333F70"/>
                </a:solidFill>
                <a:latin typeface="Unbounded Bold" pitchFamily="34" charset="0"/>
                <a:ea typeface="Unbounded Bold" pitchFamily="34" charset="-122"/>
                <a:cs typeface="Unbounded Bold" pitchFamily="34" charset="-120"/>
              </a:rPr>
              <a:t>Mel-Frequency Cepstral Coefficients</a:t>
            </a:r>
            <a:endParaRPr lang="en-US" sz="2250"/>
          </a:p>
        </p:txBody>
      </p:sp>
      <p:sp>
        <p:nvSpPr>
          <p:cNvPr id="5" name="Text 2"/>
          <p:cNvSpPr/>
          <p:nvPr/>
        </p:nvSpPr>
        <p:spPr>
          <a:xfrm>
            <a:off x="676156" y="3390186"/>
            <a:ext cx="4073366" cy="2472690"/>
          </a:xfrm>
          <a:prstGeom prst="rect">
            <a:avLst/>
          </a:prstGeom>
          <a:noFill/>
          <a:ln/>
        </p:spPr>
        <p:txBody>
          <a:bodyPr wrap="square" lIns="0" tIns="0" rIns="0" bIns="0" rtlCol="0" anchor="t"/>
          <a:lstStyle/>
          <a:p>
            <a:pPr marL="0" indent="0" algn="l">
              <a:lnSpc>
                <a:spcPts val="2400"/>
              </a:lnSpc>
              <a:buNone/>
            </a:pPr>
            <a:r>
              <a:rPr lang="en-US" sz="1500">
                <a:solidFill>
                  <a:srgbClr val="333F70"/>
                </a:solidFill>
                <a:latin typeface="Open Sans" pitchFamily="34" charset="0"/>
                <a:ea typeface="Open Sans" pitchFamily="34" charset="-122"/>
                <a:cs typeface="Open Sans" pitchFamily="34" charset="-120"/>
              </a:rPr>
              <a:t>MFCCs serve as the primary feature representation, capturing perceptually relevant speech characteristics that align with human auditory perception. This transformation converts raw audio waveforms into compact time-frequency representations that effectively encode acoustic properties.</a:t>
            </a:r>
            <a:endParaRPr lang="en-US" sz="1500"/>
          </a:p>
        </p:txBody>
      </p:sp>
      <p:sp>
        <p:nvSpPr>
          <p:cNvPr id="6" name="Text 3"/>
          <p:cNvSpPr/>
          <p:nvPr/>
        </p:nvSpPr>
        <p:spPr>
          <a:xfrm>
            <a:off x="676156" y="6036707"/>
            <a:ext cx="4073366" cy="1236345"/>
          </a:xfrm>
          <a:prstGeom prst="rect">
            <a:avLst/>
          </a:prstGeom>
          <a:noFill/>
          <a:ln/>
        </p:spPr>
        <p:txBody>
          <a:bodyPr wrap="square" lIns="0" tIns="0" rIns="0" bIns="0" rtlCol="0" anchor="t"/>
          <a:lstStyle/>
          <a:p>
            <a:pPr marL="0" indent="0" algn="l">
              <a:lnSpc>
                <a:spcPts val="2400"/>
              </a:lnSpc>
              <a:buNone/>
            </a:pPr>
            <a:r>
              <a:rPr lang="en-US" sz="1500">
                <a:solidFill>
                  <a:srgbClr val="333F70"/>
                </a:solidFill>
                <a:latin typeface="Open Sans" pitchFamily="34" charset="0"/>
                <a:ea typeface="Open Sans" pitchFamily="34" charset="-122"/>
                <a:cs typeface="Open Sans" pitchFamily="34" charset="-120"/>
              </a:rPr>
              <a:t>The feature extraction process generates representations that preserve critical information while reducing dimensionality, enabling efficient neural network processing.</a:t>
            </a:r>
            <a:endParaRPr lang="en-US" sz="1500"/>
          </a:p>
        </p:txBody>
      </p:sp>
      <p:sp>
        <p:nvSpPr>
          <p:cNvPr id="7" name="Text 4"/>
          <p:cNvSpPr/>
          <p:nvPr/>
        </p:nvSpPr>
        <p:spPr>
          <a:xfrm>
            <a:off x="5228392" y="2472690"/>
            <a:ext cx="3247073" cy="603647"/>
          </a:xfrm>
          <a:prstGeom prst="rect">
            <a:avLst/>
          </a:prstGeom>
          <a:noFill/>
          <a:ln/>
        </p:spPr>
        <p:txBody>
          <a:bodyPr wrap="square" lIns="0" tIns="0" rIns="0" bIns="0" rtlCol="0" anchor="t"/>
          <a:lstStyle/>
          <a:p>
            <a:pPr marL="0" indent="0" algn="l">
              <a:lnSpc>
                <a:spcPts val="2350"/>
              </a:lnSpc>
              <a:buNone/>
            </a:pPr>
            <a:r>
              <a:rPr lang="en-US" sz="1900" b="1">
                <a:solidFill>
                  <a:srgbClr val="333F70"/>
                </a:solidFill>
                <a:latin typeface="Unbounded Bold" pitchFamily="34" charset="0"/>
                <a:ea typeface="Unbounded Bold" pitchFamily="34" charset="-122"/>
                <a:cs typeface="Unbounded Bold" pitchFamily="34" charset="-120"/>
              </a:rPr>
              <a:t>Model Input Specifications</a:t>
            </a:r>
            <a:endParaRPr lang="en-US" sz="1900"/>
          </a:p>
        </p:txBody>
      </p:sp>
      <p:sp>
        <p:nvSpPr>
          <p:cNvPr id="8" name="Text 5"/>
          <p:cNvSpPr/>
          <p:nvPr/>
        </p:nvSpPr>
        <p:spPr>
          <a:xfrm>
            <a:off x="5228392" y="3269456"/>
            <a:ext cx="3247073" cy="618173"/>
          </a:xfrm>
          <a:prstGeom prst="rect">
            <a:avLst/>
          </a:prstGeom>
          <a:noFill/>
          <a:ln/>
        </p:spPr>
        <p:txBody>
          <a:bodyPr wrap="square" lIns="0" tIns="0" rIns="0" bIns="0" rtlCol="0" anchor="t"/>
          <a:lstStyle/>
          <a:p>
            <a:pPr marL="342900" indent="-342900" algn="l">
              <a:lnSpc>
                <a:spcPts val="2400"/>
              </a:lnSpc>
              <a:buSzPct val="100000"/>
              <a:buChar char="•"/>
            </a:pPr>
            <a:r>
              <a:rPr lang="en-US" sz="1500" b="1">
                <a:solidFill>
                  <a:srgbClr val="333F70"/>
                </a:solidFill>
                <a:latin typeface="Open Sans" pitchFamily="34" charset="0"/>
                <a:ea typeface="Open Sans" pitchFamily="34" charset="-122"/>
                <a:cs typeface="Open Sans" pitchFamily="34" charset="-120"/>
              </a:rPr>
              <a:t>216 time frames</a:t>
            </a:r>
            <a:r>
              <a:rPr lang="en-US" sz="1500">
                <a:solidFill>
                  <a:srgbClr val="333F70"/>
                </a:solidFill>
                <a:latin typeface="Open Sans" pitchFamily="34" charset="0"/>
                <a:ea typeface="Open Sans" pitchFamily="34" charset="-122"/>
                <a:cs typeface="Open Sans" pitchFamily="34" charset="-120"/>
              </a:rPr>
              <a:t> – Temporal resolution</a:t>
            </a:r>
            <a:endParaRPr lang="en-US" sz="1500"/>
          </a:p>
        </p:txBody>
      </p:sp>
      <p:sp>
        <p:nvSpPr>
          <p:cNvPr id="9" name="Text 6"/>
          <p:cNvSpPr/>
          <p:nvPr/>
        </p:nvSpPr>
        <p:spPr>
          <a:xfrm>
            <a:off x="5228392" y="3955137"/>
            <a:ext cx="3247073" cy="618173"/>
          </a:xfrm>
          <a:prstGeom prst="rect">
            <a:avLst/>
          </a:prstGeom>
          <a:noFill/>
          <a:ln/>
        </p:spPr>
        <p:txBody>
          <a:bodyPr wrap="square" lIns="0" tIns="0" rIns="0" bIns="0" rtlCol="0" anchor="t"/>
          <a:lstStyle/>
          <a:p>
            <a:pPr marL="342900" indent="-342900" algn="l">
              <a:lnSpc>
                <a:spcPts val="2400"/>
              </a:lnSpc>
              <a:buSzPct val="100000"/>
              <a:buChar char="•"/>
            </a:pPr>
            <a:r>
              <a:rPr lang="en-US" sz="1500" b="1">
                <a:solidFill>
                  <a:srgbClr val="333F70"/>
                </a:solidFill>
                <a:latin typeface="Open Sans" pitchFamily="34" charset="0"/>
                <a:ea typeface="Open Sans" pitchFamily="34" charset="-122"/>
                <a:cs typeface="Open Sans" pitchFamily="34" charset="-120"/>
              </a:rPr>
              <a:t>40 MFCC coefficients</a:t>
            </a:r>
            <a:r>
              <a:rPr lang="en-US" sz="1500">
                <a:solidFill>
                  <a:srgbClr val="333F70"/>
                </a:solidFill>
                <a:latin typeface="Open Sans" pitchFamily="34" charset="0"/>
                <a:ea typeface="Open Sans" pitchFamily="34" charset="-122"/>
                <a:cs typeface="Open Sans" pitchFamily="34" charset="-120"/>
              </a:rPr>
              <a:t> – Frequency bands</a:t>
            </a:r>
            <a:endParaRPr lang="en-US" sz="1500"/>
          </a:p>
        </p:txBody>
      </p:sp>
      <p:sp>
        <p:nvSpPr>
          <p:cNvPr id="10" name="Text 7"/>
          <p:cNvSpPr/>
          <p:nvPr/>
        </p:nvSpPr>
        <p:spPr>
          <a:xfrm>
            <a:off x="5228392" y="4640818"/>
            <a:ext cx="3247073" cy="309086"/>
          </a:xfrm>
          <a:prstGeom prst="rect">
            <a:avLst/>
          </a:prstGeom>
          <a:noFill/>
          <a:ln/>
        </p:spPr>
        <p:txBody>
          <a:bodyPr wrap="none" lIns="0" tIns="0" rIns="0" bIns="0" rtlCol="0" anchor="t"/>
          <a:lstStyle/>
          <a:p>
            <a:pPr marL="342900" indent="-342900" algn="l">
              <a:lnSpc>
                <a:spcPts val="2400"/>
              </a:lnSpc>
              <a:buSzPct val="100000"/>
              <a:buChar char="•"/>
            </a:pPr>
            <a:r>
              <a:rPr lang="en-US" sz="1500" b="1">
                <a:solidFill>
                  <a:srgbClr val="333F70"/>
                </a:solidFill>
                <a:latin typeface="Open Sans" pitchFamily="34" charset="0"/>
                <a:ea typeface="Open Sans" pitchFamily="34" charset="-122"/>
                <a:cs typeface="Open Sans" pitchFamily="34" charset="-120"/>
              </a:rPr>
              <a:t>1 channel</a:t>
            </a:r>
            <a:r>
              <a:rPr lang="en-US" sz="1500">
                <a:solidFill>
                  <a:srgbClr val="333F70"/>
                </a:solidFill>
                <a:latin typeface="Open Sans" pitchFamily="34" charset="0"/>
                <a:ea typeface="Open Sans" pitchFamily="34" charset="-122"/>
                <a:cs typeface="Open Sans" pitchFamily="34" charset="-120"/>
              </a:rPr>
              <a:t> – Mono audio input</a:t>
            </a:r>
            <a:endParaRPr lang="en-US" sz="1500"/>
          </a:p>
        </p:txBody>
      </p:sp>
      <p:sp>
        <p:nvSpPr>
          <p:cNvPr id="11" name="Text 8"/>
          <p:cNvSpPr/>
          <p:nvPr/>
        </p:nvSpPr>
        <p:spPr>
          <a:xfrm>
            <a:off x="5228392" y="5017413"/>
            <a:ext cx="3247073" cy="309086"/>
          </a:xfrm>
          <a:prstGeom prst="rect">
            <a:avLst/>
          </a:prstGeom>
          <a:noFill/>
          <a:ln/>
        </p:spPr>
        <p:txBody>
          <a:bodyPr wrap="none" lIns="0" tIns="0" rIns="0" bIns="0" rtlCol="0" anchor="t"/>
          <a:lstStyle/>
          <a:p>
            <a:pPr marL="342900" indent="-342900" algn="l">
              <a:lnSpc>
                <a:spcPts val="2400"/>
              </a:lnSpc>
              <a:buSzPct val="100000"/>
              <a:buChar char="•"/>
            </a:pPr>
            <a:r>
              <a:rPr lang="en-US" sz="1500">
                <a:solidFill>
                  <a:srgbClr val="333F70"/>
                </a:solidFill>
                <a:latin typeface="Open Sans" pitchFamily="34" charset="0"/>
                <a:ea typeface="Open Sans" pitchFamily="34" charset="-122"/>
                <a:cs typeface="Open Sans" pitchFamily="34" charset="-120"/>
              </a:rPr>
              <a:t>Final shape: 216 × 40 × 1</a:t>
            </a:r>
            <a:endParaRPr lang="en-US" sz="15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duotone>
              <a:prstClr val="black"/>
              <a:srgbClr val="8EF9FC">
                <a:tint val="45000"/>
                <a:satMod val="400000"/>
              </a:srgbClr>
            </a:duotone>
          </a:blip>
          <a:stretch>
            <a:fillRect/>
          </a:stretch>
        </p:blipFill>
        <p:spPr>
          <a:xfrm>
            <a:off x="9144000" y="0"/>
            <a:ext cx="5486400" cy="8229600"/>
          </a:xfrm>
          <a:prstGeom prst="rect">
            <a:avLst/>
          </a:prstGeom>
        </p:spPr>
      </p:pic>
      <p:sp>
        <p:nvSpPr>
          <p:cNvPr id="3" name="Shape 0"/>
          <p:cNvSpPr/>
          <p:nvPr/>
        </p:nvSpPr>
        <p:spPr>
          <a:xfrm>
            <a:off x="593050" y="731044"/>
            <a:ext cx="1381601" cy="333613"/>
          </a:xfrm>
          <a:prstGeom prst="roundRect">
            <a:avLst>
              <a:gd name="adj" fmla="val 17068"/>
            </a:avLst>
          </a:prstGeom>
          <a:noFill/>
          <a:ln w="7620">
            <a:solidFill>
              <a:srgbClr val="26A688"/>
            </a:solidFill>
            <a:prstDash val="solid"/>
          </a:ln>
        </p:spPr>
        <p:txBody>
          <a:bodyPr/>
          <a:lstStyle/>
          <a:p>
            <a:endParaRPr lang="en-US"/>
          </a:p>
        </p:txBody>
      </p:sp>
      <p:pic>
        <p:nvPicPr>
          <p:cNvPr id="4"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02231" y="830104"/>
            <a:ext cx="135493" cy="135493"/>
          </a:xfrm>
          <a:prstGeom prst="rect">
            <a:avLst/>
          </a:prstGeom>
        </p:spPr>
      </p:pic>
      <p:sp>
        <p:nvSpPr>
          <p:cNvPr id="5" name="Text 1"/>
          <p:cNvSpPr/>
          <p:nvPr/>
        </p:nvSpPr>
        <p:spPr>
          <a:xfrm>
            <a:off x="905470" y="789384"/>
            <a:ext cx="960001" cy="216932"/>
          </a:xfrm>
          <a:prstGeom prst="rect">
            <a:avLst/>
          </a:prstGeom>
          <a:noFill/>
          <a:ln/>
        </p:spPr>
        <p:txBody>
          <a:bodyPr wrap="none" lIns="0" tIns="0" rIns="0" bIns="0" rtlCol="0" anchor="t"/>
          <a:lstStyle/>
          <a:p>
            <a:pPr marL="0" indent="0" algn="l">
              <a:lnSpc>
                <a:spcPts val="1700"/>
              </a:lnSpc>
              <a:buNone/>
            </a:pPr>
            <a:r>
              <a:rPr lang="en-US" sz="1050">
                <a:solidFill>
                  <a:srgbClr val="26A688"/>
                </a:solidFill>
                <a:latin typeface="Open Sans" pitchFamily="34" charset="0"/>
                <a:ea typeface="Open Sans" pitchFamily="34" charset="-122"/>
                <a:cs typeface="Open Sans" pitchFamily="34" charset="-120"/>
              </a:rPr>
              <a:t>ARCHITECTURE</a:t>
            </a:r>
            <a:endParaRPr lang="en-US" sz="1050"/>
          </a:p>
        </p:txBody>
      </p:sp>
      <p:sp>
        <p:nvSpPr>
          <p:cNvPr id="6" name="Text 2"/>
          <p:cNvSpPr/>
          <p:nvPr/>
        </p:nvSpPr>
        <p:spPr>
          <a:xfrm>
            <a:off x="593050" y="1132403"/>
            <a:ext cx="7957899" cy="1058942"/>
          </a:xfrm>
          <a:prstGeom prst="rect">
            <a:avLst/>
          </a:prstGeom>
          <a:noFill/>
          <a:ln/>
        </p:spPr>
        <p:txBody>
          <a:bodyPr wrap="square" lIns="0" tIns="0" rIns="0" bIns="0" rtlCol="0" anchor="t"/>
          <a:lstStyle/>
          <a:p>
            <a:pPr marL="0" indent="0" algn="l">
              <a:lnSpc>
                <a:spcPts val="4150"/>
              </a:lnSpc>
              <a:buNone/>
            </a:pPr>
            <a:r>
              <a:rPr lang="en-US" sz="3300" b="1">
                <a:solidFill>
                  <a:srgbClr val="333F70"/>
                </a:solidFill>
                <a:latin typeface="Unbounded Bold" pitchFamily="34" charset="0"/>
                <a:ea typeface="Unbounded Bold" pitchFamily="34" charset="-122"/>
                <a:cs typeface="Unbounded Bold" pitchFamily="34" charset="-120"/>
              </a:rPr>
              <a:t>Convolutional Neural Network Design</a:t>
            </a:r>
            <a:endParaRPr lang="en-US" sz="3300"/>
          </a:p>
        </p:txBody>
      </p:sp>
      <p:sp>
        <p:nvSpPr>
          <p:cNvPr id="7" name="Shape 3"/>
          <p:cNvSpPr/>
          <p:nvPr/>
        </p:nvSpPr>
        <p:spPr>
          <a:xfrm>
            <a:off x="593050" y="2445425"/>
            <a:ext cx="3894177" cy="2210991"/>
          </a:xfrm>
          <a:prstGeom prst="roundRect">
            <a:avLst>
              <a:gd name="adj" fmla="val 3219"/>
            </a:avLst>
          </a:prstGeom>
          <a:solidFill>
            <a:srgbClr val="D6F5EE"/>
          </a:solidFill>
          <a:ln w="7620">
            <a:solidFill>
              <a:srgbClr val="BCDBD4"/>
            </a:solidFill>
            <a:prstDash val="solid"/>
          </a:ln>
        </p:spPr>
        <p:txBody>
          <a:bodyPr/>
          <a:lstStyle/>
          <a:p>
            <a:endParaRPr lang="en-US"/>
          </a:p>
        </p:txBody>
      </p:sp>
      <p:sp>
        <p:nvSpPr>
          <p:cNvPr id="8" name="Shape 4"/>
          <p:cNvSpPr/>
          <p:nvPr/>
        </p:nvSpPr>
        <p:spPr>
          <a:xfrm>
            <a:off x="770096" y="2622471"/>
            <a:ext cx="508278" cy="508278"/>
          </a:xfrm>
          <a:prstGeom prst="roundRect">
            <a:avLst>
              <a:gd name="adj" fmla="val 17988356"/>
            </a:avLst>
          </a:prstGeom>
          <a:solidFill>
            <a:srgbClr val="26A688"/>
          </a:solidFill>
          <a:ln/>
        </p:spPr>
        <p:txBody>
          <a:bodyPr/>
          <a:lstStyle/>
          <a:p>
            <a:endParaRPr lang="en-US"/>
          </a:p>
        </p:txBody>
      </p:sp>
      <p:pic>
        <p:nvPicPr>
          <p:cNvPr id="9"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09876" y="2762250"/>
            <a:ext cx="228719" cy="228719"/>
          </a:xfrm>
          <a:prstGeom prst="rect">
            <a:avLst/>
          </a:prstGeom>
        </p:spPr>
      </p:pic>
      <p:sp>
        <p:nvSpPr>
          <p:cNvPr id="10" name="Text 5"/>
          <p:cNvSpPr/>
          <p:nvPr/>
        </p:nvSpPr>
        <p:spPr>
          <a:xfrm>
            <a:off x="770096" y="3300174"/>
            <a:ext cx="3180278" cy="264676"/>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Sequential Architecture</a:t>
            </a:r>
            <a:endParaRPr lang="en-US" sz="1650"/>
          </a:p>
        </p:txBody>
      </p:sp>
      <p:sp>
        <p:nvSpPr>
          <p:cNvPr id="11" name="Text 6"/>
          <p:cNvSpPr/>
          <p:nvPr/>
        </p:nvSpPr>
        <p:spPr>
          <a:xfrm>
            <a:off x="770096" y="3666411"/>
            <a:ext cx="3540085" cy="812959"/>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Streamlined layer-by-layer processing optimized for 2D feature map analysis and hierarchical pattern learning.</a:t>
            </a:r>
            <a:endParaRPr lang="en-US" sz="1300"/>
          </a:p>
        </p:txBody>
      </p:sp>
      <p:sp>
        <p:nvSpPr>
          <p:cNvPr id="12" name="Shape 7"/>
          <p:cNvSpPr/>
          <p:nvPr/>
        </p:nvSpPr>
        <p:spPr>
          <a:xfrm>
            <a:off x="4656653" y="2445425"/>
            <a:ext cx="3894296" cy="2210991"/>
          </a:xfrm>
          <a:prstGeom prst="roundRect">
            <a:avLst>
              <a:gd name="adj" fmla="val 3219"/>
            </a:avLst>
          </a:prstGeom>
          <a:solidFill>
            <a:srgbClr val="D6F5EE"/>
          </a:solidFill>
          <a:ln w="7620">
            <a:solidFill>
              <a:srgbClr val="BCDBD4"/>
            </a:solidFill>
            <a:prstDash val="solid"/>
          </a:ln>
        </p:spPr>
        <p:txBody>
          <a:bodyPr/>
          <a:lstStyle/>
          <a:p>
            <a:endParaRPr lang="en-US"/>
          </a:p>
        </p:txBody>
      </p:sp>
      <p:sp>
        <p:nvSpPr>
          <p:cNvPr id="13" name="Shape 8"/>
          <p:cNvSpPr/>
          <p:nvPr/>
        </p:nvSpPr>
        <p:spPr>
          <a:xfrm>
            <a:off x="4833699" y="2622471"/>
            <a:ext cx="508278" cy="508278"/>
          </a:xfrm>
          <a:prstGeom prst="roundRect">
            <a:avLst>
              <a:gd name="adj" fmla="val 17988356"/>
            </a:avLst>
          </a:prstGeom>
          <a:solidFill>
            <a:srgbClr val="26A688"/>
          </a:solidFill>
          <a:ln/>
        </p:spPr>
        <p:txBody>
          <a:bodyPr/>
          <a:lstStyle/>
          <a:p>
            <a:endParaRPr lang="en-US"/>
          </a:p>
        </p:txBody>
      </p:sp>
      <p:pic>
        <p:nvPicPr>
          <p:cNvPr id="14"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73479" y="2762250"/>
            <a:ext cx="228719" cy="228719"/>
          </a:xfrm>
          <a:prstGeom prst="rect">
            <a:avLst/>
          </a:prstGeom>
        </p:spPr>
      </p:pic>
      <p:sp>
        <p:nvSpPr>
          <p:cNvPr id="15" name="Text 9"/>
          <p:cNvSpPr/>
          <p:nvPr/>
        </p:nvSpPr>
        <p:spPr>
          <a:xfrm>
            <a:off x="4833699" y="3300174"/>
            <a:ext cx="2441496" cy="264676"/>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Three Conv Blocks</a:t>
            </a:r>
            <a:endParaRPr lang="en-US" sz="1650"/>
          </a:p>
        </p:txBody>
      </p:sp>
      <p:sp>
        <p:nvSpPr>
          <p:cNvPr id="16" name="Text 10"/>
          <p:cNvSpPr/>
          <p:nvPr/>
        </p:nvSpPr>
        <p:spPr>
          <a:xfrm>
            <a:off x="4833699" y="3666411"/>
            <a:ext cx="3540204" cy="812959"/>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Progressive feature extraction with increasing filter complexity captures low to high-level acoustic patterns.</a:t>
            </a:r>
            <a:endParaRPr lang="en-US" sz="1300"/>
          </a:p>
        </p:txBody>
      </p:sp>
      <p:sp>
        <p:nvSpPr>
          <p:cNvPr id="17" name="Shape 11"/>
          <p:cNvSpPr/>
          <p:nvPr/>
        </p:nvSpPr>
        <p:spPr>
          <a:xfrm>
            <a:off x="593050" y="4825841"/>
            <a:ext cx="7957899" cy="1940004"/>
          </a:xfrm>
          <a:prstGeom prst="roundRect">
            <a:avLst>
              <a:gd name="adj" fmla="val 3669"/>
            </a:avLst>
          </a:prstGeom>
          <a:solidFill>
            <a:srgbClr val="D6F5EE"/>
          </a:solidFill>
          <a:ln w="7620">
            <a:solidFill>
              <a:srgbClr val="BCDBD4"/>
            </a:solidFill>
            <a:prstDash val="solid"/>
          </a:ln>
        </p:spPr>
        <p:txBody>
          <a:bodyPr/>
          <a:lstStyle/>
          <a:p>
            <a:endParaRPr lang="en-US"/>
          </a:p>
        </p:txBody>
      </p:sp>
      <p:sp>
        <p:nvSpPr>
          <p:cNvPr id="18" name="Shape 12"/>
          <p:cNvSpPr/>
          <p:nvPr/>
        </p:nvSpPr>
        <p:spPr>
          <a:xfrm>
            <a:off x="770096" y="5002887"/>
            <a:ext cx="508278" cy="508278"/>
          </a:xfrm>
          <a:prstGeom prst="roundRect">
            <a:avLst>
              <a:gd name="adj" fmla="val 17988356"/>
            </a:avLst>
          </a:prstGeom>
          <a:solidFill>
            <a:srgbClr val="26A688"/>
          </a:solidFill>
          <a:ln/>
        </p:spPr>
        <p:txBody>
          <a:bodyPr/>
          <a:lstStyle/>
          <a:p>
            <a:endParaRPr lang="en-US"/>
          </a:p>
        </p:txBody>
      </p:sp>
      <p:pic>
        <p:nvPicPr>
          <p:cNvPr id="19"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09876" y="5142667"/>
            <a:ext cx="228719" cy="228719"/>
          </a:xfrm>
          <a:prstGeom prst="rect">
            <a:avLst/>
          </a:prstGeom>
        </p:spPr>
      </p:pic>
      <p:sp>
        <p:nvSpPr>
          <p:cNvPr id="20" name="Text 13"/>
          <p:cNvSpPr/>
          <p:nvPr/>
        </p:nvSpPr>
        <p:spPr>
          <a:xfrm>
            <a:off x="770096" y="5680591"/>
            <a:ext cx="3515916" cy="264676"/>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Dense Classification Head</a:t>
            </a:r>
            <a:endParaRPr lang="en-US" sz="1650"/>
          </a:p>
        </p:txBody>
      </p:sp>
      <p:sp>
        <p:nvSpPr>
          <p:cNvPr id="21" name="Text 14"/>
          <p:cNvSpPr/>
          <p:nvPr/>
        </p:nvSpPr>
        <p:spPr>
          <a:xfrm>
            <a:off x="770096" y="6046827"/>
            <a:ext cx="7603808" cy="541972"/>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Fully connected layers aggregate learned features for final binary classification decision with probability output.</a:t>
            </a:r>
            <a:endParaRPr lang="en-US" sz="1300"/>
          </a:p>
        </p:txBody>
      </p:sp>
      <p:sp>
        <p:nvSpPr>
          <p:cNvPr id="22" name="Text 15"/>
          <p:cNvSpPr/>
          <p:nvPr/>
        </p:nvSpPr>
        <p:spPr>
          <a:xfrm>
            <a:off x="593050" y="6956465"/>
            <a:ext cx="7957899" cy="541972"/>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The architecture is specifically designed for MFCC spectrograms, employing convolutional operations to detect local patterns and spatial hierarchies that distinguish authentic from synthetic audio.</a:t>
            </a:r>
            <a:endParaRPr lang="en-US" sz="13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89717" y="862965"/>
            <a:ext cx="12604313" cy="526494"/>
          </a:xfrm>
          <a:prstGeom prst="rect">
            <a:avLst/>
          </a:prstGeom>
          <a:noFill/>
          <a:ln/>
        </p:spPr>
        <p:txBody>
          <a:bodyPr wrap="none" lIns="0" tIns="0" rIns="0" bIns="0" rtlCol="0" anchor="t"/>
          <a:lstStyle/>
          <a:p>
            <a:pPr marL="0" indent="0" algn="l">
              <a:lnSpc>
                <a:spcPts val="4100"/>
              </a:lnSpc>
              <a:buNone/>
            </a:pPr>
            <a:r>
              <a:rPr lang="en-US" sz="3300" b="1">
                <a:solidFill>
                  <a:srgbClr val="333F70"/>
                </a:solidFill>
                <a:latin typeface="Unbounded Bold" pitchFamily="34" charset="0"/>
                <a:ea typeface="Unbounded Bold" pitchFamily="34" charset="-122"/>
                <a:cs typeface="Unbounded Bold" pitchFamily="34" charset="-120"/>
              </a:rPr>
              <a:t>CNN Architecture: Detailed Layer Configuration</a:t>
            </a:r>
            <a:endParaRPr lang="en-US" sz="3300"/>
          </a:p>
        </p:txBody>
      </p:sp>
      <p:sp>
        <p:nvSpPr>
          <p:cNvPr id="3" name="Shape 1"/>
          <p:cNvSpPr/>
          <p:nvPr/>
        </p:nvSpPr>
        <p:spPr>
          <a:xfrm>
            <a:off x="7303770" y="1726406"/>
            <a:ext cx="22860" cy="4159687"/>
          </a:xfrm>
          <a:prstGeom prst="roundRect">
            <a:avLst>
              <a:gd name="adj" fmla="val 309590"/>
            </a:avLst>
          </a:prstGeom>
          <a:solidFill>
            <a:srgbClr val="BCDBD4"/>
          </a:solidFill>
          <a:ln/>
        </p:spPr>
        <p:txBody>
          <a:bodyPr/>
          <a:lstStyle/>
          <a:p>
            <a:endParaRPr lang="en-US"/>
          </a:p>
        </p:txBody>
      </p:sp>
      <p:sp>
        <p:nvSpPr>
          <p:cNvPr id="4" name="Shape 2"/>
          <p:cNvSpPr/>
          <p:nvPr/>
        </p:nvSpPr>
        <p:spPr>
          <a:xfrm>
            <a:off x="6643092" y="1904524"/>
            <a:ext cx="505420" cy="22860"/>
          </a:xfrm>
          <a:prstGeom prst="roundRect">
            <a:avLst>
              <a:gd name="adj" fmla="val 309590"/>
            </a:avLst>
          </a:prstGeom>
          <a:solidFill>
            <a:srgbClr val="BCDBD4"/>
          </a:solidFill>
          <a:ln/>
        </p:spPr>
        <p:txBody>
          <a:bodyPr/>
          <a:lstStyle/>
          <a:p>
            <a:endParaRPr lang="en-US"/>
          </a:p>
        </p:txBody>
      </p:sp>
      <p:sp>
        <p:nvSpPr>
          <p:cNvPr id="5" name="Shape 3"/>
          <p:cNvSpPr/>
          <p:nvPr/>
        </p:nvSpPr>
        <p:spPr>
          <a:xfrm>
            <a:off x="7125653" y="1726406"/>
            <a:ext cx="379095" cy="379095"/>
          </a:xfrm>
          <a:prstGeom prst="roundRect">
            <a:avLst>
              <a:gd name="adj" fmla="val 18669"/>
            </a:avLst>
          </a:prstGeom>
          <a:solidFill>
            <a:srgbClr val="D6F5EE"/>
          </a:solidFill>
          <a:ln w="7620">
            <a:solidFill>
              <a:srgbClr val="BCDBD4"/>
            </a:solidFill>
            <a:prstDash val="solid"/>
          </a:ln>
        </p:spPr>
        <p:txBody>
          <a:bodyPr/>
          <a:lstStyle/>
          <a:p>
            <a:endParaRPr lang="en-US"/>
          </a:p>
        </p:txBody>
      </p:sp>
      <p:sp>
        <p:nvSpPr>
          <p:cNvPr id="6" name="Text 4"/>
          <p:cNvSpPr/>
          <p:nvPr/>
        </p:nvSpPr>
        <p:spPr>
          <a:xfrm>
            <a:off x="7188875" y="1758017"/>
            <a:ext cx="252651" cy="315873"/>
          </a:xfrm>
          <a:prstGeom prst="rect">
            <a:avLst/>
          </a:prstGeom>
          <a:noFill/>
          <a:ln/>
        </p:spPr>
        <p:txBody>
          <a:bodyPr wrap="none" lIns="0" tIns="0" rIns="0" bIns="0" rtlCol="0" anchor="t"/>
          <a:lstStyle/>
          <a:p>
            <a:pPr marL="0" indent="0" algn="ctr">
              <a:lnSpc>
                <a:spcPts val="1950"/>
              </a:lnSpc>
              <a:buNone/>
            </a:pPr>
            <a:r>
              <a:rPr lang="en-US" sz="1950" b="1">
                <a:solidFill>
                  <a:srgbClr val="333F70"/>
                </a:solidFill>
                <a:latin typeface="Unbounded Bold" pitchFamily="34" charset="0"/>
                <a:ea typeface="Unbounded Bold" pitchFamily="34" charset="-122"/>
                <a:cs typeface="Unbounded Bold" pitchFamily="34" charset="-120"/>
              </a:rPr>
              <a:t>1</a:t>
            </a:r>
            <a:endParaRPr lang="en-US" sz="1950"/>
          </a:p>
        </p:txBody>
      </p:sp>
      <p:sp>
        <p:nvSpPr>
          <p:cNvPr id="7" name="Text 5"/>
          <p:cNvSpPr/>
          <p:nvPr/>
        </p:nvSpPr>
        <p:spPr>
          <a:xfrm>
            <a:off x="3684508" y="1784271"/>
            <a:ext cx="2788206" cy="263247"/>
          </a:xfrm>
          <a:prstGeom prst="rect">
            <a:avLst/>
          </a:prstGeom>
          <a:noFill/>
          <a:ln/>
        </p:spPr>
        <p:txBody>
          <a:bodyPr wrap="none" lIns="0" tIns="0" rIns="0" bIns="0" rtlCol="0" anchor="t"/>
          <a:lstStyle/>
          <a:p>
            <a:pPr marL="0" indent="0" algn="r">
              <a:lnSpc>
                <a:spcPts val="2050"/>
              </a:lnSpc>
              <a:buNone/>
            </a:pPr>
            <a:r>
              <a:rPr lang="en-US" sz="1650" b="1">
                <a:solidFill>
                  <a:srgbClr val="333F70"/>
                </a:solidFill>
                <a:latin typeface="Unbounded Bold" pitchFamily="34" charset="0"/>
                <a:ea typeface="Unbounded Bold" pitchFamily="34" charset="-122"/>
                <a:cs typeface="Unbounded Bold" pitchFamily="34" charset="-120"/>
              </a:rPr>
              <a:t>Convolutional Block 1</a:t>
            </a:r>
            <a:endParaRPr lang="en-US" sz="1650"/>
          </a:p>
        </p:txBody>
      </p:sp>
      <p:sp>
        <p:nvSpPr>
          <p:cNvPr id="8" name="Text 6"/>
          <p:cNvSpPr/>
          <p:nvPr/>
        </p:nvSpPr>
        <p:spPr>
          <a:xfrm>
            <a:off x="589717" y="2148602"/>
            <a:ext cx="5882997" cy="539115"/>
          </a:xfrm>
          <a:prstGeom prst="rect">
            <a:avLst/>
          </a:prstGeom>
          <a:noFill/>
          <a:ln/>
        </p:spPr>
        <p:txBody>
          <a:bodyPr wrap="square" lIns="0" tIns="0" rIns="0" bIns="0" rtlCol="0" anchor="t"/>
          <a:lstStyle/>
          <a:p>
            <a:pPr marL="0" indent="0" algn="r">
              <a:lnSpc>
                <a:spcPts val="2100"/>
              </a:lnSpc>
              <a:buNone/>
            </a:pPr>
            <a:r>
              <a:rPr lang="en-US" sz="1300" b="1">
                <a:solidFill>
                  <a:srgbClr val="333F70"/>
                </a:solidFill>
                <a:latin typeface="Open Sans" pitchFamily="34" charset="0"/>
                <a:ea typeface="Open Sans" pitchFamily="34" charset="-122"/>
                <a:cs typeface="Open Sans" pitchFamily="34" charset="-120"/>
              </a:rPr>
              <a:t>32 filters</a:t>
            </a:r>
            <a:r>
              <a:rPr lang="en-US" sz="1300">
                <a:solidFill>
                  <a:srgbClr val="333F70"/>
                </a:solidFill>
                <a:latin typeface="Open Sans" pitchFamily="34" charset="0"/>
                <a:ea typeface="Open Sans" pitchFamily="34" charset="-122"/>
                <a:cs typeface="Open Sans" pitchFamily="34" charset="-120"/>
              </a:rPr>
              <a:t> | Conv2D (3×3 kernel) + ReLU → Batch Normalization → MaxPooling (2×2) → Dropout (0.25)</a:t>
            </a:r>
            <a:endParaRPr lang="en-US" sz="1300"/>
          </a:p>
        </p:txBody>
      </p:sp>
      <p:sp>
        <p:nvSpPr>
          <p:cNvPr id="9" name="Shape 7"/>
          <p:cNvSpPr/>
          <p:nvPr/>
        </p:nvSpPr>
        <p:spPr>
          <a:xfrm>
            <a:off x="7481887" y="2915483"/>
            <a:ext cx="505420" cy="22860"/>
          </a:xfrm>
          <a:prstGeom prst="roundRect">
            <a:avLst>
              <a:gd name="adj" fmla="val 309590"/>
            </a:avLst>
          </a:prstGeom>
          <a:solidFill>
            <a:srgbClr val="BCDBD4"/>
          </a:solidFill>
          <a:ln/>
        </p:spPr>
        <p:txBody>
          <a:bodyPr/>
          <a:lstStyle/>
          <a:p>
            <a:endParaRPr lang="en-US"/>
          </a:p>
        </p:txBody>
      </p:sp>
      <p:sp>
        <p:nvSpPr>
          <p:cNvPr id="10" name="Shape 8"/>
          <p:cNvSpPr/>
          <p:nvPr/>
        </p:nvSpPr>
        <p:spPr>
          <a:xfrm>
            <a:off x="7125653" y="2737366"/>
            <a:ext cx="379095" cy="379095"/>
          </a:xfrm>
          <a:prstGeom prst="roundRect">
            <a:avLst>
              <a:gd name="adj" fmla="val 18669"/>
            </a:avLst>
          </a:prstGeom>
          <a:solidFill>
            <a:srgbClr val="D6F5EE"/>
          </a:solidFill>
          <a:ln w="7620">
            <a:solidFill>
              <a:srgbClr val="BCDBD4"/>
            </a:solidFill>
            <a:prstDash val="solid"/>
          </a:ln>
        </p:spPr>
        <p:txBody>
          <a:bodyPr/>
          <a:lstStyle/>
          <a:p>
            <a:endParaRPr lang="en-US"/>
          </a:p>
        </p:txBody>
      </p:sp>
      <p:sp>
        <p:nvSpPr>
          <p:cNvPr id="11" name="Text 9"/>
          <p:cNvSpPr/>
          <p:nvPr/>
        </p:nvSpPr>
        <p:spPr>
          <a:xfrm>
            <a:off x="7188875" y="2768977"/>
            <a:ext cx="252651" cy="315873"/>
          </a:xfrm>
          <a:prstGeom prst="rect">
            <a:avLst/>
          </a:prstGeom>
          <a:noFill/>
          <a:ln/>
        </p:spPr>
        <p:txBody>
          <a:bodyPr wrap="none" lIns="0" tIns="0" rIns="0" bIns="0" rtlCol="0" anchor="t"/>
          <a:lstStyle/>
          <a:p>
            <a:pPr marL="0" indent="0" algn="ctr">
              <a:lnSpc>
                <a:spcPts val="1950"/>
              </a:lnSpc>
              <a:buNone/>
            </a:pPr>
            <a:r>
              <a:rPr lang="en-US" sz="1950" b="1">
                <a:solidFill>
                  <a:srgbClr val="333F70"/>
                </a:solidFill>
                <a:latin typeface="Unbounded Bold" pitchFamily="34" charset="0"/>
                <a:ea typeface="Unbounded Bold" pitchFamily="34" charset="-122"/>
                <a:cs typeface="Unbounded Bold" pitchFamily="34" charset="-120"/>
              </a:rPr>
              <a:t>2</a:t>
            </a:r>
            <a:endParaRPr lang="en-US" sz="1950"/>
          </a:p>
        </p:txBody>
      </p:sp>
      <p:sp>
        <p:nvSpPr>
          <p:cNvPr id="12" name="Text 10"/>
          <p:cNvSpPr/>
          <p:nvPr/>
        </p:nvSpPr>
        <p:spPr>
          <a:xfrm>
            <a:off x="8157686" y="2795230"/>
            <a:ext cx="2854523" cy="263247"/>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Convolutional Block 2</a:t>
            </a:r>
            <a:endParaRPr lang="en-US" sz="1650"/>
          </a:p>
        </p:txBody>
      </p:sp>
      <p:sp>
        <p:nvSpPr>
          <p:cNvPr id="13" name="Text 11"/>
          <p:cNvSpPr/>
          <p:nvPr/>
        </p:nvSpPr>
        <p:spPr>
          <a:xfrm>
            <a:off x="8157686" y="3159562"/>
            <a:ext cx="5882997" cy="539115"/>
          </a:xfrm>
          <a:prstGeom prst="rect">
            <a:avLst/>
          </a:prstGeom>
          <a:noFill/>
          <a:ln/>
        </p:spPr>
        <p:txBody>
          <a:bodyPr wrap="square" lIns="0" tIns="0" rIns="0" bIns="0" rtlCol="0" anchor="t"/>
          <a:lstStyle/>
          <a:p>
            <a:pPr marL="0" indent="0" algn="l">
              <a:lnSpc>
                <a:spcPts val="2100"/>
              </a:lnSpc>
              <a:buNone/>
            </a:pPr>
            <a:r>
              <a:rPr lang="en-US" sz="1300" b="1">
                <a:solidFill>
                  <a:srgbClr val="333F70"/>
                </a:solidFill>
                <a:latin typeface="Open Sans" pitchFamily="34" charset="0"/>
                <a:ea typeface="Open Sans" pitchFamily="34" charset="-122"/>
                <a:cs typeface="Open Sans" pitchFamily="34" charset="-120"/>
              </a:rPr>
              <a:t>64 filters</a:t>
            </a:r>
            <a:r>
              <a:rPr lang="en-US" sz="1300">
                <a:solidFill>
                  <a:srgbClr val="333F70"/>
                </a:solidFill>
                <a:latin typeface="Open Sans" pitchFamily="34" charset="0"/>
                <a:ea typeface="Open Sans" pitchFamily="34" charset="-122"/>
                <a:cs typeface="Open Sans" pitchFamily="34" charset="-120"/>
              </a:rPr>
              <a:t> | Conv2D (3×3 kernel) + ReLU → Batch Normalization → MaxPooling (2×2) → Dropout (0.25)</a:t>
            </a:r>
            <a:endParaRPr lang="en-US" sz="1300"/>
          </a:p>
        </p:txBody>
      </p:sp>
      <p:sp>
        <p:nvSpPr>
          <p:cNvPr id="14" name="Shape 12"/>
          <p:cNvSpPr/>
          <p:nvPr/>
        </p:nvSpPr>
        <p:spPr>
          <a:xfrm>
            <a:off x="6643092" y="3786902"/>
            <a:ext cx="505420" cy="22860"/>
          </a:xfrm>
          <a:prstGeom prst="roundRect">
            <a:avLst>
              <a:gd name="adj" fmla="val 309590"/>
            </a:avLst>
          </a:prstGeom>
          <a:solidFill>
            <a:srgbClr val="BCDBD4"/>
          </a:solidFill>
          <a:ln/>
        </p:spPr>
        <p:txBody>
          <a:bodyPr/>
          <a:lstStyle/>
          <a:p>
            <a:endParaRPr lang="en-US"/>
          </a:p>
        </p:txBody>
      </p:sp>
      <p:sp>
        <p:nvSpPr>
          <p:cNvPr id="15" name="Shape 13"/>
          <p:cNvSpPr/>
          <p:nvPr/>
        </p:nvSpPr>
        <p:spPr>
          <a:xfrm>
            <a:off x="7125653" y="3608784"/>
            <a:ext cx="379095" cy="379095"/>
          </a:xfrm>
          <a:prstGeom prst="roundRect">
            <a:avLst>
              <a:gd name="adj" fmla="val 18669"/>
            </a:avLst>
          </a:prstGeom>
          <a:solidFill>
            <a:srgbClr val="D6F5EE"/>
          </a:solidFill>
          <a:ln w="7620">
            <a:solidFill>
              <a:srgbClr val="BCDBD4"/>
            </a:solidFill>
            <a:prstDash val="solid"/>
          </a:ln>
        </p:spPr>
        <p:txBody>
          <a:bodyPr/>
          <a:lstStyle/>
          <a:p>
            <a:endParaRPr lang="en-US"/>
          </a:p>
        </p:txBody>
      </p:sp>
      <p:sp>
        <p:nvSpPr>
          <p:cNvPr id="16" name="Text 14"/>
          <p:cNvSpPr/>
          <p:nvPr/>
        </p:nvSpPr>
        <p:spPr>
          <a:xfrm>
            <a:off x="7188875" y="3640395"/>
            <a:ext cx="252651" cy="315873"/>
          </a:xfrm>
          <a:prstGeom prst="rect">
            <a:avLst/>
          </a:prstGeom>
          <a:noFill/>
          <a:ln/>
        </p:spPr>
        <p:txBody>
          <a:bodyPr wrap="none" lIns="0" tIns="0" rIns="0" bIns="0" rtlCol="0" anchor="t"/>
          <a:lstStyle/>
          <a:p>
            <a:pPr marL="0" indent="0" algn="ctr">
              <a:lnSpc>
                <a:spcPts val="1950"/>
              </a:lnSpc>
              <a:buNone/>
            </a:pPr>
            <a:r>
              <a:rPr lang="en-US" sz="1950" b="1">
                <a:solidFill>
                  <a:srgbClr val="333F70"/>
                </a:solidFill>
                <a:latin typeface="Unbounded Bold" pitchFamily="34" charset="0"/>
                <a:ea typeface="Unbounded Bold" pitchFamily="34" charset="-122"/>
                <a:cs typeface="Unbounded Bold" pitchFamily="34" charset="-120"/>
              </a:rPr>
              <a:t>3</a:t>
            </a:r>
            <a:endParaRPr lang="en-US" sz="1950"/>
          </a:p>
        </p:txBody>
      </p:sp>
      <p:sp>
        <p:nvSpPr>
          <p:cNvPr id="17" name="Text 15"/>
          <p:cNvSpPr/>
          <p:nvPr/>
        </p:nvSpPr>
        <p:spPr>
          <a:xfrm>
            <a:off x="3617357" y="3666649"/>
            <a:ext cx="2855357" cy="263247"/>
          </a:xfrm>
          <a:prstGeom prst="rect">
            <a:avLst/>
          </a:prstGeom>
          <a:noFill/>
          <a:ln/>
        </p:spPr>
        <p:txBody>
          <a:bodyPr wrap="none" lIns="0" tIns="0" rIns="0" bIns="0" rtlCol="0" anchor="t"/>
          <a:lstStyle/>
          <a:p>
            <a:pPr marL="0" indent="0" algn="r">
              <a:lnSpc>
                <a:spcPts val="2050"/>
              </a:lnSpc>
              <a:buNone/>
            </a:pPr>
            <a:r>
              <a:rPr lang="en-US" sz="1650" b="1">
                <a:solidFill>
                  <a:srgbClr val="333F70"/>
                </a:solidFill>
                <a:latin typeface="Unbounded Bold" pitchFamily="34" charset="0"/>
                <a:ea typeface="Unbounded Bold" pitchFamily="34" charset="-122"/>
                <a:cs typeface="Unbounded Bold" pitchFamily="34" charset="-120"/>
              </a:rPr>
              <a:t>Convolutional Block 3</a:t>
            </a:r>
            <a:endParaRPr lang="en-US" sz="1650"/>
          </a:p>
        </p:txBody>
      </p:sp>
      <p:sp>
        <p:nvSpPr>
          <p:cNvPr id="18" name="Text 16"/>
          <p:cNvSpPr/>
          <p:nvPr/>
        </p:nvSpPr>
        <p:spPr>
          <a:xfrm>
            <a:off x="589717" y="4030980"/>
            <a:ext cx="5882997" cy="539115"/>
          </a:xfrm>
          <a:prstGeom prst="rect">
            <a:avLst/>
          </a:prstGeom>
          <a:noFill/>
          <a:ln/>
        </p:spPr>
        <p:txBody>
          <a:bodyPr wrap="square" lIns="0" tIns="0" rIns="0" bIns="0" rtlCol="0" anchor="t"/>
          <a:lstStyle/>
          <a:p>
            <a:pPr marL="0" indent="0" algn="r">
              <a:lnSpc>
                <a:spcPts val="2100"/>
              </a:lnSpc>
              <a:buNone/>
            </a:pPr>
            <a:r>
              <a:rPr lang="en-US" sz="1300" b="1">
                <a:solidFill>
                  <a:srgbClr val="333F70"/>
                </a:solidFill>
                <a:latin typeface="Open Sans" pitchFamily="34" charset="0"/>
                <a:ea typeface="Open Sans" pitchFamily="34" charset="-122"/>
                <a:cs typeface="Open Sans" pitchFamily="34" charset="-120"/>
              </a:rPr>
              <a:t>128 filters</a:t>
            </a:r>
            <a:r>
              <a:rPr lang="en-US" sz="1300">
                <a:solidFill>
                  <a:srgbClr val="333F70"/>
                </a:solidFill>
                <a:latin typeface="Open Sans" pitchFamily="34" charset="0"/>
                <a:ea typeface="Open Sans" pitchFamily="34" charset="-122"/>
                <a:cs typeface="Open Sans" pitchFamily="34" charset="-120"/>
              </a:rPr>
              <a:t> | Conv2D (3×3 kernel) + ReLU → Batch Normalization → MaxPooling (2×2) → Dropout (0.25)</a:t>
            </a:r>
            <a:endParaRPr lang="en-US" sz="1300"/>
          </a:p>
        </p:txBody>
      </p:sp>
      <p:sp>
        <p:nvSpPr>
          <p:cNvPr id="19" name="Shape 17"/>
          <p:cNvSpPr/>
          <p:nvPr/>
        </p:nvSpPr>
        <p:spPr>
          <a:xfrm>
            <a:off x="7481887" y="4658320"/>
            <a:ext cx="505420" cy="22860"/>
          </a:xfrm>
          <a:prstGeom prst="roundRect">
            <a:avLst>
              <a:gd name="adj" fmla="val 309590"/>
            </a:avLst>
          </a:prstGeom>
          <a:solidFill>
            <a:srgbClr val="BCDBD4"/>
          </a:solidFill>
          <a:ln/>
        </p:spPr>
        <p:txBody>
          <a:bodyPr/>
          <a:lstStyle/>
          <a:p>
            <a:endParaRPr lang="en-US"/>
          </a:p>
        </p:txBody>
      </p:sp>
      <p:sp>
        <p:nvSpPr>
          <p:cNvPr id="20" name="Shape 18"/>
          <p:cNvSpPr/>
          <p:nvPr/>
        </p:nvSpPr>
        <p:spPr>
          <a:xfrm>
            <a:off x="7125653" y="4480203"/>
            <a:ext cx="379095" cy="379095"/>
          </a:xfrm>
          <a:prstGeom prst="roundRect">
            <a:avLst>
              <a:gd name="adj" fmla="val 18669"/>
            </a:avLst>
          </a:prstGeom>
          <a:solidFill>
            <a:srgbClr val="D6F5EE"/>
          </a:solidFill>
          <a:ln w="7620">
            <a:solidFill>
              <a:srgbClr val="BCDBD4"/>
            </a:solidFill>
            <a:prstDash val="solid"/>
          </a:ln>
        </p:spPr>
        <p:txBody>
          <a:bodyPr/>
          <a:lstStyle/>
          <a:p>
            <a:endParaRPr lang="en-US"/>
          </a:p>
        </p:txBody>
      </p:sp>
      <p:sp>
        <p:nvSpPr>
          <p:cNvPr id="21" name="Text 19"/>
          <p:cNvSpPr/>
          <p:nvPr/>
        </p:nvSpPr>
        <p:spPr>
          <a:xfrm>
            <a:off x="7188875" y="4511814"/>
            <a:ext cx="252651" cy="315873"/>
          </a:xfrm>
          <a:prstGeom prst="rect">
            <a:avLst/>
          </a:prstGeom>
          <a:noFill/>
          <a:ln/>
        </p:spPr>
        <p:txBody>
          <a:bodyPr wrap="none" lIns="0" tIns="0" rIns="0" bIns="0" rtlCol="0" anchor="t"/>
          <a:lstStyle/>
          <a:p>
            <a:pPr marL="0" indent="0" algn="ctr">
              <a:lnSpc>
                <a:spcPts val="1950"/>
              </a:lnSpc>
              <a:buNone/>
            </a:pPr>
            <a:r>
              <a:rPr lang="en-US" sz="1950" b="1">
                <a:solidFill>
                  <a:srgbClr val="333F70"/>
                </a:solidFill>
                <a:latin typeface="Unbounded Bold" pitchFamily="34" charset="0"/>
                <a:ea typeface="Unbounded Bold" pitchFamily="34" charset="-122"/>
                <a:cs typeface="Unbounded Bold" pitchFamily="34" charset="-120"/>
              </a:rPr>
              <a:t>4</a:t>
            </a:r>
            <a:endParaRPr lang="en-US" sz="1950"/>
          </a:p>
        </p:txBody>
      </p:sp>
      <p:sp>
        <p:nvSpPr>
          <p:cNvPr id="22" name="Text 20"/>
          <p:cNvSpPr/>
          <p:nvPr/>
        </p:nvSpPr>
        <p:spPr>
          <a:xfrm>
            <a:off x="8157686" y="4538067"/>
            <a:ext cx="2834283" cy="263247"/>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Classification Layers</a:t>
            </a:r>
            <a:endParaRPr lang="en-US" sz="1650"/>
          </a:p>
        </p:txBody>
      </p:sp>
      <p:sp>
        <p:nvSpPr>
          <p:cNvPr id="23" name="Text 21"/>
          <p:cNvSpPr/>
          <p:nvPr/>
        </p:nvSpPr>
        <p:spPr>
          <a:xfrm>
            <a:off x="8157686" y="4902398"/>
            <a:ext cx="5882997" cy="539115"/>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Flatten → Dense (256 neurons, ReLU) → Dropout (0.5) → Output (1 neuron, Sigmoid)</a:t>
            </a:r>
            <a:endParaRPr lang="en-US" sz="1300"/>
          </a:p>
        </p:txBody>
      </p:sp>
      <p:sp>
        <p:nvSpPr>
          <p:cNvPr id="24" name="Text 22"/>
          <p:cNvSpPr/>
          <p:nvPr/>
        </p:nvSpPr>
        <p:spPr>
          <a:xfrm>
            <a:off x="589717" y="6244114"/>
            <a:ext cx="3182183" cy="263247"/>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Regularization Strategy</a:t>
            </a:r>
            <a:endParaRPr lang="en-US" sz="1650"/>
          </a:p>
        </p:txBody>
      </p:sp>
      <p:sp>
        <p:nvSpPr>
          <p:cNvPr id="25" name="Text 23"/>
          <p:cNvSpPr/>
          <p:nvPr/>
        </p:nvSpPr>
        <p:spPr>
          <a:xfrm>
            <a:off x="589717" y="6675834"/>
            <a:ext cx="6519982" cy="539115"/>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Batch normalization stabilizes training dynamics while dropout layers (0.25 and 0.5) provide strong regularization to prevent overfitting on training data.</a:t>
            </a:r>
            <a:endParaRPr lang="en-US" sz="1300"/>
          </a:p>
        </p:txBody>
      </p:sp>
      <p:sp>
        <p:nvSpPr>
          <p:cNvPr id="26" name="Text 24"/>
          <p:cNvSpPr/>
          <p:nvPr/>
        </p:nvSpPr>
        <p:spPr>
          <a:xfrm>
            <a:off x="7528322" y="6244114"/>
            <a:ext cx="2340054" cy="263247"/>
          </a:xfrm>
          <a:prstGeom prst="rect">
            <a:avLst/>
          </a:prstGeom>
          <a:noFill/>
          <a:ln/>
        </p:spPr>
        <p:txBody>
          <a:bodyPr wrap="none" lIns="0" tIns="0" rIns="0" bIns="0" rtlCol="0" anchor="t"/>
          <a:lstStyle/>
          <a:p>
            <a:pPr marL="0" indent="0" algn="l">
              <a:lnSpc>
                <a:spcPts val="2050"/>
              </a:lnSpc>
              <a:buNone/>
            </a:pPr>
            <a:r>
              <a:rPr lang="en-US" sz="1650" b="1">
                <a:solidFill>
                  <a:srgbClr val="333F70"/>
                </a:solidFill>
                <a:latin typeface="Unbounded Bold" pitchFamily="34" charset="0"/>
                <a:ea typeface="Unbounded Bold" pitchFamily="34" charset="-122"/>
                <a:cs typeface="Unbounded Bold" pitchFamily="34" charset="-120"/>
              </a:rPr>
              <a:t>Filter Progression</a:t>
            </a:r>
            <a:endParaRPr lang="en-US" sz="1650"/>
          </a:p>
        </p:txBody>
      </p:sp>
      <p:sp>
        <p:nvSpPr>
          <p:cNvPr id="27" name="Text 25"/>
          <p:cNvSpPr/>
          <p:nvPr/>
        </p:nvSpPr>
        <p:spPr>
          <a:xfrm>
            <a:off x="7528322" y="6675834"/>
            <a:ext cx="6519982" cy="539115"/>
          </a:xfrm>
          <a:prstGeom prst="rect">
            <a:avLst/>
          </a:prstGeom>
          <a:noFill/>
          <a:ln/>
        </p:spPr>
        <p:txBody>
          <a:bodyPr wrap="square" lIns="0" tIns="0" rIns="0" bIns="0" rtlCol="0" anchor="t"/>
          <a:lstStyle/>
          <a:p>
            <a:pPr marL="0" indent="0" algn="l">
              <a:lnSpc>
                <a:spcPts val="2100"/>
              </a:lnSpc>
              <a:buNone/>
            </a:pPr>
            <a:r>
              <a:rPr lang="en-US" sz="1300">
                <a:solidFill>
                  <a:srgbClr val="333F70"/>
                </a:solidFill>
                <a:latin typeface="Open Sans" pitchFamily="34" charset="0"/>
                <a:ea typeface="Open Sans" pitchFamily="34" charset="-122"/>
                <a:cs typeface="Open Sans" pitchFamily="34" charset="-120"/>
              </a:rPr>
              <a:t>The increasing filter count (32→64→128) enables hierarchical feature learning, capturing progressively more complex acoustic patterns.</a:t>
            </a:r>
            <a:endParaRPr lang="en-US" sz="13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396835" y="311825"/>
            <a:ext cx="504944" cy="213003"/>
          </a:xfrm>
          <a:prstGeom prst="roundRect">
            <a:avLst>
              <a:gd name="adj" fmla="val 17890"/>
            </a:avLst>
          </a:prstGeom>
          <a:solidFill>
            <a:srgbClr val="D6F5EE"/>
          </a:solidFill>
          <a:ln/>
        </p:spPr>
        <p:txBody>
          <a:bodyPr/>
          <a:lstStyle/>
          <a:p>
            <a:endParaRPr lang="en-US"/>
          </a:p>
        </p:txBody>
      </p:sp>
      <p:sp>
        <p:nvSpPr>
          <p:cNvPr id="3" name="Text 1"/>
          <p:cNvSpPr/>
          <p:nvPr/>
        </p:nvSpPr>
        <p:spPr>
          <a:xfrm>
            <a:off x="464820" y="345758"/>
            <a:ext cx="368975" cy="145137"/>
          </a:xfrm>
          <a:prstGeom prst="rect">
            <a:avLst/>
          </a:prstGeom>
          <a:noFill/>
          <a:ln/>
        </p:spPr>
        <p:txBody>
          <a:bodyPr wrap="none" lIns="0" tIns="0" rIns="0" bIns="0" rtlCol="0" anchor="t"/>
          <a:lstStyle/>
          <a:p>
            <a:pPr marL="0" indent="0" algn="l">
              <a:lnSpc>
                <a:spcPts val="1100"/>
              </a:lnSpc>
              <a:buNone/>
            </a:pPr>
            <a:r>
              <a:rPr lang="en-US" sz="700">
                <a:solidFill>
                  <a:srgbClr val="333F70"/>
                </a:solidFill>
                <a:latin typeface="Open Sans" pitchFamily="34" charset="0"/>
                <a:ea typeface="Open Sans" pitchFamily="34" charset="-122"/>
                <a:cs typeface="Open Sans" pitchFamily="34" charset="-120"/>
              </a:rPr>
              <a:t>RESULTS</a:t>
            </a:r>
            <a:endParaRPr lang="en-US" sz="700"/>
          </a:p>
        </p:txBody>
      </p:sp>
      <p:sp>
        <p:nvSpPr>
          <p:cNvPr id="4" name="Text 2"/>
          <p:cNvSpPr/>
          <p:nvPr/>
        </p:nvSpPr>
        <p:spPr>
          <a:xfrm>
            <a:off x="396835" y="570190"/>
            <a:ext cx="8961358" cy="354330"/>
          </a:xfrm>
          <a:prstGeom prst="rect">
            <a:avLst/>
          </a:prstGeom>
          <a:noFill/>
          <a:ln/>
        </p:spPr>
        <p:txBody>
          <a:bodyPr wrap="none" lIns="0" tIns="0" rIns="0" bIns="0" rtlCol="0" anchor="t"/>
          <a:lstStyle/>
          <a:p>
            <a:pPr marL="0" indent="0" algn="l">
              <a:lnSpc>
                <a:spcPts val="2750"/>
              </a:lnSpc>
              <a:buNone/>
            </a:pPr>
            <a:r>
              <a:rPr lang="en-US" sz="2200" b="1">
                <a:solidFill>
                  <a:srgbClr val="333F70"/>
                </a:solidFill>
                <a:latin typeface="Unbounded Bold" pitchFamily="34" charset="0"/>
                <a:ea typeface="Unbounded Bold" pitchFamily="34" charset="-122"/>
                <a:cs typeface="Unbounded Bold" pitchFamily="34" charset="-120"/>
              </a:rPr>
              <a:t>Performance Metrics and Experimental Outcomes</a:t>
            </a:r>
            <a:endParaRPr lang="en-US" sz="2200"/>
          </a:p>
        </p:txBody>
      </p:sp>
      <p:sp>
        <p:nvSpPr>
          <p:cNvPr id="5" name="Text 3"/>
          <p:cNvSpPr/>
          <p:nvPr/>
        </p:nvSpPr>
        <p:spPr>
          <a:xfrm>
            <a:off x="1958102" y="1831658"/>
            <a:ext cx="1394936" cy="283488"/>
          </a:xfrm>
          <a:prstGeom prst="rect">
            <a:avLst/>
          </a:prstGeom>
          <a:noFill/>
          <a:ln/>
        </p:spPr>
        <p:txBody>
          <a:bodyPr wrap="none" lIns="0" tIns="0" rIns="0" bIns="0" rtlCol="0" anchor="t"/>
          <a:lstStyle/>
          <a:p>
            <a:pPr marL="0" indent="0" algn="ctr">
              <a:lnSpc>
                <a:spcPts val="2200"/>
              </a:lnSpc>
              <a:buNone/>
            </a:pPr>
            <a:r>
              <a:rPr lang="en-US" sz="2200" b="1">
                <a:solidFill>
                  <a:srgbClr val="333F70"/>
                </a:solidFill>
                <a:latin typeface="Unbounded Bold" pitchFamily="34" charset="0"/>
                <a:ea typeface="Unbounded Bold" pitchFamily="34" charset="-122"/>
                <a:cs typeface="Unbounded Bold" pitchFamily="34" charset="-120"/>
              </a:rPr>
              <a:t>95.26%</a:t>
            </a:r>
            <a:endParaRPr lang="en-US" sz="2200"/>
          </a:p>
        </p:txBody>
      </p:sp>
      <p:pic>
        <p:nvPicPr>
          <p:cNvPr id="6" name="Image 0" descr="preencoded.png"/>
          <p:cNvPicPr>
            <a:picLocks noChangeAspect="1"/>
          </p:cNvPicPr>
          <p:nvPr/>
        </p:nvPicPr>
        <p:blipFill>
          <a:blip r:embed="rId3"/>
          <a:stretch>
            <a:fillRect/>
          </a:stretch>
        </p:blipFill>
        <p:spPr>
          <a:xfrm>
            <a:off x="1805107" y="1122878"/>
            <a:ext cx="1701165" cy="1701165"/>
          </a:xfrm>
          <a:prstGeom prst="rect">
            <a:avLst/>
          </a:prstGeom>
        </p:spPr>
      </p:pic>
      <p:sp>
        <p:nvSpPr>
          <p:cNvPr id="7" name="Text 4"/>
          <p:cNvSpPr/>
          <p:nvPr/>
        </p:nvSpPr>
        <p:spPr>
          <a:xfrm>
            <a:off x="1933658" y="2965728"/>
            <a:ext cx="1417558" cy="177165"/>
          </a:xfrm>
          <a:prstGeom prst="rect">
            <a:avLst/>
          </a:prstGeom>
          <a:noFill/>
          <a:ln/>
        </p:spPr>
        <p:txBody>
          <a:bodyPr wrap="none" lIns="0" tIns="0" rIns="0" bIns="0" rtlCol="0" anchor="t"/>
          <a:lstStyle/>
          <a:p>
            <a:pPr marL="0" indent="0" algn="ctr">
              <a:lnSpc>
                <a:spcPts val="1350"/>
              </a:lnSpc>
              <a:buNone/>
            </a:pPr>
            <a:r>
              <a:rPr lang="en-US" sz="1400" b="1">
                <a:solidFill>
                  <a:srgbClr val="333F70"/>
                </a:solidFill>
                <a:latin typeface="Unbounded Bold" pitchFamily="34" charset="0"/>
                <a:ea typeface="Unbounded Bold" pitchFamily="34" charset="-122"/>
                <a:cs typeface="Unbounded Bold" pitchFamily="34" charset="-120"/>
              </a:rPr>
              <a:t>Test Accuracy</a:t>
            </a:r>
            <a:endParaRPr lang="en-US" sz="1400" b="1"/>
          </a:p>
        </p:txBody>
      </p:sp>
      <p:sp>
        <p:nvSpPr>
          <p:cNvPr id="8" name="Text 5"/>
          <p:cNvSpPr/>
          <p:nvPr/>
        </p:nvSpPr>
        <p:spPr>
          <a:xfrm>
            <a:off x="396835" y="3210877"/>
            <a:ext cx="4517708" cy="181451"/>
          </a:xfrm>
          <a:prstGeom prst="rect">
            <a:avLst/>
          </a:prstGeom>
          <a:noFill/>
          <a:ln/>
        </p:spPr>
        <p:txBody>
          <a:bodyPr wrap="none" lIns="0" tIns="0" rIns="0" bIns="0" rtlCol="0" anchor="t"/>
          <a:lstStyle/>
          <a:p>
            <a:pPr marL="0" indent="0" algn="ctr">
              <a:lnSpc>
                <a:spcPts val="1400"/>
              </a:lnSpc>
              <a:buNone/>
            </a:pPr>
            <a:r>
              <a:rPr lang="en-US" sz="1400" b="1">
                <a:solidFill>
                  <a:srgbClr val="333F70"/>
                </a:solidFill>
                <a:latin typeface="Open Sans" pitchFamily="34" charset="0"/>
                <a:ea typeface="Open Sans" pitchFamily="34" charset="-122"/>
                <a:cs typeface="Open Sans" pitchFamily="34" charset="-120"/>
              </a:rPr>
              <a:t>Overall classification performance</a:t>
            </a:r>
            <a:endParaRPr lang="en-US" sz="1400" b="1"/>
          </a:p>
        </p:txBody>
      </p:sp>
      <p:sp>
        <p:nvSpPr>
          <p:cNvPr id="9" name="Text 6"/>
          <p:cNvSpPr/>
          <p:nvPr/>
        </p:nvSpPr>
        <p:spPr>
          <a:xfrm>
            <a:off x="6617494" y="1831658"/>
            <a:ext cx="1394936" cy="283488"/>
          </a:xfrm>
          <a:prstGeom prst="rect">
            <a:avLst/>
          </a:prstGeom>
          <a:noFill/>
          <a:ln/>
        </p:spPr>
        <p:txBody>
          <a:bodyPr wrap="none" lIns="0" tIns="0" rIns="0" bIns="0" rtlCol="0" anchor="t"/>
          <a:lstStyle/>
          <a:p>
            <a:pPr marL="0" indent="0" algn="ctr">
              <a:lnSpc>
                <a:spcPts val="2200"/>
              </a:lnSpc>
              <a:buNone/>
            </a:pPr>
            <a:r>
              <a:rPr lang="en-US" sz="2200" b="1">
                <a:solidFill>
                  <a:srgbClr val="333F70"/>
                </a:solidFill>
                <a:latin typeface="Unbounded Bold" pitchFamily="34" charset="0"/>
                <a:ea typeface="Unbounded Bold" pitchFamily="34" charset="-122"/>
                <a:cs typeface="Unbounded Bold" pitchFamily="34" charset="-120"/>
              </a:rPr>
              <a:t>0.21</a:t>
            </a:r>
            <a:endParaRPr lang="en-US" sz="2200"/>
          </a:p>
        </p:txBody>
      </p:sp>
      <p:pic>
        <p:nvPicPr>
          <p:cNvPr id="10" name="Image 1" descr="preencoded.png"/>
          <p:cNvPicPr>
            <a:picLocks noChangeAspect="1"/>
          </p:cNvPicPr>
          <p:nvPr/>
        </p:nvPicPr>
        <p:blipFill>
          <a:blip r:embed="rId4"/>
          <a:stretch>
            <a:fillRect/>
          </a:stretch>
        </p:blipFill>
        <p:spPr>
          <a:xfrm>
            <a:off x="6464498" y="1122878"/>
            <a:ext cx="1701165" cy="1701165"/>
          </a:xfrm>
          <a:prstGeom prst="rect">
            <a:avLst/>
          </a:prstGeom>
        </p:spPr>
      </p:pic>
      <p:sp>
        <p:nvSpPr>
          <p:cNvPr id="11" name="Text 7"/>
          <p:cNvSpPr/>
          <p:nvPr/>
        </p:nvSpPr>
        <p:spPr>
          <a:xfrm>
            <a:off x="6606302" y="2965728"/>
            <a:ext cx="1417558" cy="177165"/>
          </a:xfrm>
          <a:prstGeom prst="rect">
            <a:avLst/>
          </a:prstGeom>
          <a:noFill/>
          <a:ln/>
        </p:spPr>
        <p:txBody>
          <a:bodyPr wrap="none" lIns="0" tIns="0" rIns="0" bIns="0" rtlCol="0" anchor="t"/>
          <a:lstStyle/>
          <a:p>
            <a:pPr marL="0" indent="0" algn="ctr">
              <a:lnSpc>
                <a:spcPts val="1350"/>
              </a:lnSpc>
              <a:buNone/>
            </a:pPr>
            <a:r>
              <a:rPr lang="en-US" sz="1400" b="1">
                <a:solidFill>
                  <a:srgbClr val="333F70"/>
                </a:solidFill>
                <a:latin typeface="Unbounded Bold" pitchFamily="34" charset="0"/>
                <a:ea typeface="Unbounded Bold" pitchFamily="34" charset="-122"/>
                <a:cs typeface="Unbounded Bold" pitchFamily="34" charset="-120"/>
              </a:rPr>
              <a:t>Test Loss</a:t>
            </a:r>
            <a:endParaRPr lang="en-US" sz="1400" b="1"/>
          </a:p>
        </p:txBody>
      </p:sp>
      <p:sp>
        <p:nvSpPr>
          <p:cNvPr id="12" name="Text 8"/>
          <p:cNvSpPr/>
          <p:nvPr/>
        </p:nvSpPr>
        <p:spPr>
          <a:xfrm>
            <a:off x="5056227" y="3210877"/>
            <a:ext cx="4517827" cy="181451"/>
          </a:xfrm>
          <a:prstGeom prst="rect">
            <a:avLst/>
          </a:prstGeom>
          <a:noFill/>
          <a:ln/>
        </p:spPr>
        <p:txBody>
          <a:bodyPr wrap="none" lIns="0" tIns="0" rIns="0" bIns="0" rtlCol="0" anchor="t"/>
          <a:lstStyle/>
          <a:p>
            <a:pPr marL="0" indent="0" algn="ctr">
              <a:lnSpc>
                <a:spcPts val="1400"/>
              </a:lnSpc>
              <a:buNone/>
            </a:pPr>
            <a:r>
              <a:rPr lang="en-US" sz="1400" b="1">
                <a:solidFill>
                  <a:srgbClr val="333F70"/>
                </a:solidFill>
                <a:latin typeface="Open Sans" pitchFamily="34" charset="0"/>
                <a:ea typeface="Open Sans" pitchFamily="34" charset="-122"/>
                <a:cs typeface="Open Sans" pitchFamily="34" charset="-120"/>
              </a:rPr>
              <a:t>Binary cross-entropy</a:t>
            </a:r>
            <a:endParaRPr lang="en-US" sz="1400" b="1"/>
          </a:p>
        </p:txBody>
      </p:sp>
      <p:sp>
        <p:nvSpPr>
          <p:cNvPr id="13" name="Text 9"/>
          <p:cNvSpPr/>
          <p:nvPr/>
        </p:nvSpPr>
        <p:spPr>
          <a:xfrm>
            <a:off x="11277005" y="1831658"/>
            <a:ext cx="1394936" cy="283488"/>
          </a:xfrm>
          <a:prstGeom prst="rect">
            <a:avLst/>
          </a:prstGeom>
          <a:noFill/>
          <a:ln/>
        </p:spPr>
        <p:txBody>
          <a:bodyPr wrap="none" lIns="0" tIns="0" rIns="0" bIns="0" rtlCol="0" anchor="t"/>
          <a:lstStyle/>
          <a:p>
            <a:pPr marL="0" indent="0" algn="ctr">
              <a:lnSpc>
                <a:spcPts val="2200"/>
              </a:lnSpc>
              <a:buNone/>
            </a:pPr>
            <a:r>
              <a:rPr lang="en-US" sz="2200" b="1">
                <a:solidFill>
                  <a:srgbClr val="333F70"/>
                </a:solidFill>
                <a:latin typeface="Unbounded Bold" pitchFamily="34" charset="0"/>
                <a:ea typeface="Unbounded Bold" pitchFamily="34" charset="-122"/>
                <a:cs typeface="Unbounded Bold" pitchFamily="34" charset="-120"/>
              </a:rPr>
              <a:t>99%</a:t>
            </a:r>
            <a:endParaRPr lang="en-US" sz="2200"/>
          </a:p>
        </p:txBody>
      </p:sp>
      <p:pic>
        <p:nvPicPr>
          <p:cNvPr id="14" name="Image 2" descr="preencoded.png"/>
          <p:cNvPicPr>
            <a:picLocks noChangeAspect="1"/>
          </p:cNvPicPr>
          <p:nvPr/>
        </p:nvPicPr>
        <p:blipFill>
          <a:blip r:embed="rId5"/>
          <a:stretch>
            <a:fillRect/>
          </a:stretch>
        </p:blipFill>
        <p:spPr>
          <a:xfrm>
            <a:off x="11124009" y="1122878"/>
            <a:ext cx="1701165" cy="1701165"/>
          </a:xfrm>
          <a:prstGeom prst="rect">
            <a:avLst/>
          </a:prstGeom>
        </p:spPr>
      </p:pic>
      <p:sp>
        <p:nvSpPr>
          <p:cNvPr id="15" name="Text 10"/>
          <p:cNvSpPr/>
          <p:nvPr/>
        </p:nvSpPr>
        <p:spPr>
          <a:xfrm>
            <a:off x="11265813" y="2965728"/>
            <a:ext cx="1417558" cy="177165"/>
          </a:xfrm>
          <a:prstGeom prst="rect">
            <a:avLst/>
          </a:prstGeom>
          <a:noFill/>
          <a:ln/>
        </p:spPr>
        <p:txBody>
          <a:bodyPr wrap="none" lIns="0" tIns="0" rIns="0" bIns="0" rtlCol="0" anchor="t"/>
          <a:lstStyle/>
          <a:p>
            <a:pPr marL="0" indent="0" algn="ctr">
              <a:lnSpc>
                <a:spcPts val="1350"/>
              </a:lnSpc>
              <a:buNone/>
            </a:pPr>
            <a:r>
              <a:rPr lang="en-US" sz="1400" b="1">
                <a:solidFill>
                  <a:srgbClr val="333F70"/>
                </a:solidFill>
                <a:latin typeface="Unbounded Bold" pitchFamily="34" charset="0"/>
                <a:ea typeface="Unbounded Bold" pitchFamily="34" charset="-122"/>
                <a:cs typeface="Unbounded Bold" pitchFamily="34" charset="-120"/>
              </a:rPr>
              <a:t>AUC Score</a:t>
            </a:r>
            <a:endParaRPr lang="en-US" sz="1400" b="1"/>
          </a:p>
        </p:txBody>
      </p:sp>
      <p:sp>
        <p:nvSpPr>
          <p:cNvPr id="16" name="Text 11"/>
          <p:cNvSpPr/>
          <p:nvPr/>
        </p:nvSpPr>
        <p:spPr>
          <a:xfrm>
            <a:off x="9715738" y="3210877"/>
            <a:ext cx="4517708" cy="181451"/>
          </a:xfrm>
          <a:prstGeom prst="rect">
            <a:avLst/>
          </a:prstGeom>
          <a:noFill/>
          <a:ln/>
        </p:spPr>
        <p:txBody>
          <a:bodyPr wrap="none" lIns="0" tIns="0" rIns="0" bIns="0" rtlCol="0" anchor="t"/>
          <a:lstStyle/>
          <a:p>
            <a:pPr marL="0" indent="0" algn="ctr">
              <a:lnSpc>
                <a:spcPts val="1400"/>
              </a:lnSpc>
              <a:buNone/>
            </a:pPr>
            <a:r>
              <a:rPr lang="en-US" sz="1400" b="1">
                <a:solidFill>
                  <a:srgbClr val="333F70"/>
                </a:solidFill>
                <a:latin typeface="Open Sans" pitchFamily="34" charset="0"/>
                <a:ea typeface="Open Sans" pitchFamily="34" charset="-122"/>
                <a:cs typeface="Open Sans" pitchFamily="34" charset="-120"/>
              </a:rPr>
              <a:t>Area under ROC curve</a:t>
            </a:r>
            <a:endParaRPr lang="en-US" sz="1400" b="1"/>
          </a:p>
        </p:txBody>
      </p:sp>
      <p:sp>
        <p:nvSpPr>
          <p:cNvPr id="17" name="Text 12"/>
          <p:cNvSpPr/>
          <p:nvPr/>
        </p:nvSpPr>
        <p:spPr>
          <a:xfrm>
            <a:off x="396835" y="3765714"/>
            <a:ext cx="1701165" cy="212646"/>
          </a:xfrm>
          <a:prstGeom prst="rect">
            <a:avLst/>
          </a:prstGeom>
          <a:noFill/>
          <a:ln/>
        </p:spPr>
        <p:txBody>
          <a:bodyPr wrap="none" lIns="0" tIns="0" rIns="0" bIns="0" rtlCol="0" anchor="t"/>
          <a:lstStyle/>
          <a:p>
            <a:pPr marL="0" indent="0" algn="l">
              <a:lnSpc>
                <a:spcPts val="1650"/>
              </a:lnSpc>
              <a:buNone/>
            </a:pPr>
            <a:r>
              <a:rPr lang="en-US" sz="2000" b="1">
                <a:solidFill>
                  <a:srgbClr val="333F70"/>
                </a:solidFill>
                <a:latin typeface="Unbounded Bold"/>
                <a:ea typeface="Unbounded Bold" pitchFamily="34" charset="-122"/>
                <a:cs typeface="Unbounded Bold" pitchFamily="34" charset="-120"/>
              </a:rPr>
              <a:t>Key Findings</a:t>
            </a:r>
            <a:endParaRPr lang="en-US" sz="2000">
              <a:latin typeface="Unbounded Bold"/>
            </a:endParaRPr>
          </a:p>
        </p:txBody>
      </p:sp>
      <p:sp>
        <p:nvSpPr>
          <p:cNvPr id="18" name="Text 13"/>
          <p:cNvSpPr/>
          <p:nvPr/>
        </p:nvSpPr>
        <p:spPr>
          <a:xfrm>
            <a:off x="396835" y="4118211"/>
            <a:ext cx="6780014" cy="181451"/>
          </a:xfrm>
          <a:prstGeom prst="rect">
            <a:avLst/>
          </a:prstGeom>
          <a:noFill/>
          <a:ln/>
        </p:spPr>
        <p:txBody>
          <a:bodyPr wrap="none" lIns="0" tIns="0" rIns="0" bIns="0" rtlCol="0" anchor="t"/>
          <a:lstStyle/>
          <a:p>
            <a:pPr marL="342900" indent="-342900" algn="l">
              <a:lnSpc>
                <a:spcPct val="150000"/>
              </a:lnSpc>
              <a:buSzPct val="100000"/>
              <a:buChar char="•"/>
            </a:pPr>
            <a:r>
              <a:rPr lang="en-US" sz="1600">
                <a:solidFill>
                  <a:srgbClr val="333F70"/>
                </a:solidFill>
                <a:latin typeface="Open Sans"/>
                <a:ea typeface="Open Sans"/>
                <a:cs typeface="Open Sans"/>
              </a:rPr>
              <a:t>Strong class separation achieved between real and fake audio samples</a:t>
            </a:r>
            <a:endParaRPr lang="en-US" sz="1600">
              <a:latin typeface="Open Sans"/>
              <a:ea typeface="Open Sans"/>
              <a:cs typeface="Open Sans"/>
            </a:endParaRPr>
          </a:p>
        </p:txBody>
      </p:sp>
      <p:sp>
        <p:nvSpPr>
          <p:cNvPr id="19" name="Text 14"/>
          <p:cNvSpPr/>
          <p:nvPr/>
        </p:nvSpPr>
        <p:spPr>
          <a:xfrm>
            <a:off x="396835" y="5492249"/>
            <a:ext cx="6780014" cy="181451"/>
          </a:xfrm>
          <a:prstGeom prst="rect">
            <a:avLst/>
          </a:prstGeom>
          <a:noFill/>
          <a:ln/>
        </p:spPr>
        <p:txBody>
          <a:bodyPr wrap="none" lIns="0" tIns="0" rIns="0" bIns="0" rtlCol="0" anchor="t"/>
          <a:lstStyle/>
          <a:p>
            <a:pPr marL="342900" indent="-342900" algn="l">
              <a:lnSpc>
                <a:spcPct val="150000"/>
              </a:lnSpc>
              <a:buSzPct val="100000"/>
              <a:buChar char="•"/>
            </a:pPr>
            <a:r>
              <a:rPr lang="en-US" sz="1600">
                <a:solidFill>
                  <a:srgbClr val="333F70"/>
                </a:solidFill>
                <a:latin typeface="Open Sans" pitchFamily="34" charset="0"/>
                <a:ea typeface="Open Sans" pitchFamily="34" charset="-122"/>
                <a:cs typeface="Open Sans" pitchFamily="34" charset="-120"/>
              </a:rPr>
              <a:t>High recall demonstrates effective detection of synthetic speech instances</a:t>
            </a:r>
            <a:endParaRPr lang="en-US" sz="1600">
              <a:ea typeface="Calibri" panose="020F0502020204030204"/>
              <a:cs typeface="Calibri" panose="020F0502020204030204"/>
            </a:endParaRPr>
          </a:p>
        </p:txBody>
      </p:sp>
      <p:sp>
        <p:nvSpPr>
          <p:cNvPr id="20" name="Text 15"/>
          <p:cNvSpPr/>
          <p:nvPr/>
        </p:nvSpPr>
        <p:spPr>
          <a:xfrm>
            <a:off x="396835" y="4944722"/>
            <a:ext cx="6780014" cy="181451"/>
          </a:xfrm>
          <a:prstGeom prst="rect">
            <a:avLst/>
          </a:prstGeom>
          <a:noFill/>
          <a:ln/>
        </p:spPr>
        <p:txBody>
          <a:bodyPr wrap="none" lIns="0" tIns="0" rIns="0" bIns="0" rtlCol="0" anchor="t"/>
          <a:lstStyle/>
          <a:p>
            <a:pPr marL="342900" indent="-342900" algn="l">
              <a:lnSpc>
                <a:spcPct val="150000"/>
              </a:lnSpc>
              <a:buSzPct val="100000"/>
              <a:buChar char="•"/>
            </a:pPr>
            <a:r>
              <a:rPr lang="en-US" sz="1600">
                <a:solidFill>
                  <a:srgbClr val="333F70"/>
                </a:solidFill>
                <a:latin typeface="Open Sans" pitchFamily="34" charset="0"/>
                <a:ea typeface="Open Sans" pitchFamily="34" charset="-122"/>
                <a:cs typeface="Open Sans" pitchFamily="34" charset="-120"/>
              </a:rPr>
              <a:t>Model exhibits stable generalization to previously unseen test data</a:t>
            </a:r>
            <a:endParaRPr lang="en-US" sz="1600">
              <a:ea typeface="Calibri" panose="020F0502020204030204"/>
              <a:cs typeface="Calibri" panose="020F0502020204030204"/>
            </a:endParaRPr>
          </a:p>
        </p:txBody>
      </p:sp>
      <p:sp>
        <p:nvSpPr>
          <p:cNvPr id="21" name="Text 16"/>
          <p:cNvSpPr/>
          <p:nvPr/>
        </p:nvSpPr>
        <p:spPr>
          <a:xfrm>
            <a:off x="396835" y="6146483"/>
            <a:ext cx="6780014" cy="181451"/>
          </a:xfrm>
          <a:prstGeom prst="rect">
            <a:avLst/>
          </a:prstGeom>
          <a:noFill/>
          <a:ln/>
        </p:spPr>
        <p:txBody>
          <a:bodyPr wrap="none" lIns="0" tIns="0" rIns="0" bIns="0" rtlCol="0" anchor="t"/>
          <a:lstStyle/>
          <a:p>
            <a:pPr marL="342900" indent="-342900" algn="l">
              <a:lnSpc>
                <a:spcPct val="150000"/>
              </a:lnSpc>
              <a:buSzPct val="100000"/>
              <a:buChar char="•"/>
            </a:pPr>
            <a:r>
              <a:rPr lang="en-US" sz="1600" dirty="0">
                <a:solidFill>
                  <a:srgbClr val="333F70"/>
                </a:solidFill>
                <a:latin typeface="Open Sans" pitchFamily="34" charset="0"/>
                <a:ea typeface="Open Sans" pitchFamily="34" charset="-122"/>
                <a:cs typeface="Open Sans" pitchFamily="34" charset="-120"/>
              </a:rPr>
              <a:t>Misclassifications primarily occur with high-quality deepfakes exhibiting strong acoustic</a:t>
            </a:r>
          </a:p>
          <a:p>
            <a:pPr algn="l">
              <a:lnSpc>
                <a:spcPct val="150000"/>
              </a:lnSpc>
              <a:buSzPct val="100000"/>
            </a:pPr>
            <a:r>
              <a:rPr lang="en-US" sz="1600" dirty="0">
                <a:solidFill>
                  <a:srgbClr val="333F70"/>
                </a:solidFill>
                <a:latin typeface="Open Sans" pitchFamily="34" charset="0"/>
                <a:ea typeface="Open Sans" pitchFamily="34" charset="-122"/>
                <a:cs typeface="Open Sans" pitchFamily="34" charset="-120"/>
              </a:rPr>
              <a:t> similarity to authentic speech</a:t>
            </a:r>
            <a:endParaRPr lang="en-US" sz="1600" dirty="0">
              <a:ea typeface="Calibri" panose="020F0502020204030204"/>
              <a:cs typeface="Calibri" panose="020F0502020204030204"/>
            </a:endParaRPr>
          </a:p>
        </p:txBody>
      </p:sp>
      <p:pic>
        <p:nvPicPr>
          <p:cNvPr id="22" name="Image 3" descr="preencoded.png"/>
          <p:cNvPicPr>
            <a:picLocks noChangeAspect="1"/>
          </p:cNvPicPr>
          <p:nvPr/>
        </p:nvPicPr>
        <p:blipFill>
          <a:blip r:embed="rId6">
            <a:duotone>
              <a:prstClr val="black"/>
              <a:srgbClr val="59DDD7">
                <a:tint val="45000"/>
                <a:satMod val="400000"/>
              </a:srgbClr>
            </a:duotone>
          </a:blip>
          <a:stretch>
            <a:fillRect/>
          </a:stretch>
        </p:blipFill>
        <p:spPr>
          <a:xfrm>
            <a:off x="9850448" y="3503574"/>
            <a:ext cx="4382998" cy="4382998"/>
          </a:xfrm>
          <a:prstGeom prst="rect">
            <a:avLst/>
          </a:prstGeom>
        </p:spPr>
      </p:pic>
      <p:sp>
        <p:nvSpPr>
          <p:cNvPr id="23" name="Text 17"/>
          <p:cNvSpPr/>
          <p:nvPr/>
        </p:nvSpPr>
        <p:spPr>
          <a:xfrm>
            <a:off x="396835" y="10724912"/>
            <a:ext cx="3552349" cy="212646"/>
          </a:xfrm>
          <a:prstGeom prst="rect">
            <a:avLst/>
          </a:prstGeom>
          <a:noFill/>
          <a:ln/>
        </p:spPr>
        <p:txBody>
          <a:bodyPr wrap="none" lIns="0" tIns="0" rIns="0" bIns="0" rtlCol="0" anchor="t"/>
          <a:lstStyle/>
          <a:p>
            <a:pPr marL="0" indent="0" algn="l">
              <a:lnSpc>
                <a:spcPts val="1650"/>
              </a:lnSpc>
              <a:buNone/>
            </a:pPr>
            <a:r>
              <a:rPr lang="en-US" sz="1300" b="1">
                <a:solidFill>
                  <a:srgbClr val="333F70"/>
                </a:solidFill>
                <a:latin typeface="Unbounded Bold" pitchFamily="34" charset="0"/>
                <a:ea typeface="Unbounded Bold" pitchFamily="34" charset="-122"/>
                <a:cs typeface="Unbounded Bold" pitchFamily="34" charset="-120"/>
              </a:rPr>
              <a:t>Conclusion and Future Directions</a:t>
            </a:r>
            <a:endParaRPr lang="en-US" sz="1300"/>
          </a:p>
        </p:txBody>
      </p:sp>
      <p:sp>
        <p:nvSpPr>
          <p:cNvPr id="24" name="Text 18"/>
          <p:cNvSpPr/>
          <p:nvPr/>
        </p:nvSpPr>
        <p:spPr>
          <a:xfrm>
            <a:off x="396835" y="11107579"/>
            <a:ext cx="13836729" cy="362903"/>
          </a:xfrm>
          <a:prstGeom prst="rect">
            <a:avLst/>
          </a:prstGeom>
          <a:noFill/>
          <a:ln/>
        </p:spPr>
        <p:txBody>
          <a:bodyPr wrap="square" lIns="0" tIns="0" rIns="0" bIns="0" rtlCol="0" anchor="t"/>
          <a:lstStyle/>
          <a:p>
            <a:pPr marL="0" indent="0" algn="l">
              <a:lnSpc>
                <a:spcPts val="1400"/>
              </a:lnSpc>
              <a:buNone/>
            </a:pPr>
            <a:r>
              <a:rPr lang="en-US" sz="850">
                <a:solidFill>
                  <a:srgbClr val="333F70"/>
                </a:solidFill>
                <a:latin typeface="Open Sans" pitchFamily="34" charset="0"/>
                <a:ea typeface="Open Sans" pitchFamily="34" charset="-122"/>
                <a:cs typeface="Open Sans" pitchFamily="34" charset="-120"/>
              </a:rPr>
              <a:t>SafeTone successfully validates the CNN-based detection approach, demonstrating that convolutional architectures combined with MFCC features provide effective, computationally efficient, and reproducible deepfake detection. Future work will explore larger diverse datasets, cross-dataset generalization, real-time detection capabilities, and integration with fully trained speaker verification modules.</a:t>
            </a:r>
            <a:endParaRPr lang="en-US" sz="8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28901" y="714018"/>
            <a:ext cx="848320" cy="391239"/>
          </a:xfrm>
          <a:prstGeom prst="roundRect">
            <a:avLst>
              <a:gd name="adj" fmla="val 17887"/>
            </a:avLst>
          </a:prstGeom>
          <a:solidFill>
            <a:srgbClr val="D6F5EE"/>
          </a:solidFill>
          <a:ln/>
        </p:spPr>
        <p:txBody>
          <a:bodyPr/>
          <a:lstStyle/>
          <a:p>
            <a:endParaRPr lang="en-US"/>
          </a:p>
        </p:txBody>
      </p:sp>
      <p:sp>
        <p:nvSpPr>
          <p:cNvPr id="3" name="Text 1"/>
          <p:cNvSpPr/>
          <p:nvPr/>
        </p:nvSpPr>
        <p:spPr>
          <a:xfrm>
            <a:off x="853797" y="776407"/>
            <a:ext cx="598527" cy="266462"/>
          </a:xfrm>
          <a:prstGeom prst="rect">
            <a:avLst/>
          </a:prstGeom>
          <a:noFill/>
          <a:ln/>
        </p:spPr>
        <p:txBody>
          <a:bodyPr wrap="none" lIns="0" tIns="0" rIns="0" bIns="0" rtlCol="0" anchor="t"/>
          <a:lstStyle/>
          <a:p>
            <a:pPr marL="0" indent="0" algn="l">
              <a:lnSpc>
                <a:spcPts val="2050"/>
              </a:lnSpc>
              <a:buNone/>
            </a:pPr>
            <a:r>
              <a:rPr lang="en-US" sz="1300">
                <a:solidFill>
                  <a:srgbClr val="333F70"/>
                </a:solidFill>
                <a:latin typeface="Open Sans" pitchFamily="34" charset="0"/>
                <a:ea typeface="Open Sans" pitchFamily="34" charset="-122"/>
                <a:cs typeface="Open Sans" pitchFamily="34" charset="-120"/>
              </a:rPr>
              <a:t>IMPACT</a:t>
            </a:r>
            <a:endParaRPr lang="en-US" sz="1300"/>
          </a:p>
        </p:txBody>
      </p:sp>
      <p:sp>
        <p:nvSpPr>
          <p:cNvPr id="4" name="Text 2"/>
          <p:cNvSpPr/>
          <p:nvPr/>
        </p:nvSpPr>
        <p:spPr>
          <a:xfrm>
            <a:off x="728901" y="1188482"/>
            <a:ext cx="11747659" cy="650796"/>
          </a:xfrm>
          <a:prstGeom prst="rect">
            <a:avLst/>
          </a:prstGeom>
          <a:noFill/>
          <a:ln/>
        </p:spPr>
        <p:txBody>
          <a:bodyPr wrap="none" lIns="0" tIns="0" rIns="0" bIns="0" rtlCol="0" anchor="t"/>
          <a:lstStyle/>
          <a:p>
            <a:pPr marL="0" indent="0" algn="l">
              <a:lnSpc>
                <a:spcPts val="5100"/>
              </a:lnSpc>
              <a:buNone/>
            </a:pPr>
            <a:r>
              <a:rPr lang="en-US" sz="4050" b="1">
                <a:solidFill>
                  <a:srgbClr val="333F70"/>
                </a:solidFill>
                <a:latin typeface="Unbounded Bold" pitchFamily="34" charset="0"/>
                <a:ea typeface="Unbounded Bold" pitchFamily="34" charset="-122"/>
                <a:cs typeface="Unbounded Bold" pitchFamily="34" charset="-120"/>
              </a:rPr>
              <a:t>Real-World Applications and Impact</a:t>
            </a:r>
            <a:endParaRPr lang="en-US" sz="4050"/>
          </a:p>
        </p:txBody>
      </p:sp>
      <p:sp>
        <p:nvSpPr>
          <p:cNvPr id="5" name="Text 3"/>
          <p:cNvSpPr/>
          <p:nvPr/>
        </p:nvSpPr>
        <p:spPr>
          <a:xfrm>
            <a:off x="728901" y="2151578"/>
            <a:ext cx="13172599" cy="666274"/>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SafeTone's deepfake detection capabilities have far-reaching implications across critical sectors, bolstering security and trust in an increasingly voice-driven digital world.</a:t>
            </a:r>
            <a:endParaRPr lang="en-US" sz="160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28901" y="3052048"/>
            <a:ext cx="520660" cy="520660"/>
          </a:xfrm>
          <a:prstGeom prst="rect">
            <a:avLst/>
          </a:prstGeom>
        </p:spPr>
      </p:pic>
      <p:sp>
        <p:nvSpPr>
          <p:cNvPr id="7" name="Text 4"/>
          <p:cNvSpPr/>
          <p:nvPr/>
        </p:nvSpPr>
        <p:spPr>
          <a:xfrm>
            <a:off x="1509832" y="3175635"/>
            <a:ext cx="3003828" cy="325398"/>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Banking &amp; Finance</a:t>
            </a:r>
            <a:endParaRPr lang="en-US" sz="2000"/>
          </a:p>
        </p:txBody>
      </p:sp>
      <p:sp>
        <p:nvSpPr>
          <p:cNvPr id="8" name="Text 5"/>
          <p:cNvSpPr/>
          <p:nvPr/>
        </p:nvSpPr>
        <p:spPr>
          <a:xfrm>
            <a:off x="1509832" y="3625929"/>
            <a:ext cx="5675233" cy="999411"/>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Safeguarding financial assets by detecting fraudulent voice commands and preventing unauthorized access to accounts, enhancing transaction security.</a:t>
            </a:r>
            <a:endParaRPr lang="en-US" sz="1600"/>
          </a:p>
        </p:txBody>
      </p:sp>
      <p:pic>
        <p:nvPicPr>
          <p:cNvPr id="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45335" y="3052048"/>
            <a:ext cx="520660" cy="520660"/>
          </a:xfrm>
          <a:prstGeom prst="rect">
            <a:avLst/>
          </a:prstGeom>
        </p:spPr>
      </p:pic>
      <p:sp>
        <p:nvSpPr>
          <p:cNvPr id="10" name="Text 6"/>
          <p:cNvSpPr/>
          <p:nvPr/>
        </p:nvSpPr>
        <p:spPr>
          <a:xfrm>
            <a:off x="8226266" y="3175635"/>
            <a:ext cx="2920246" cy="325398"/>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Law Enforcement</a:t>
            </a:r>
            <a:endParaRPr lang="en-US" sz="2000"/>
          </a:p>
        </p:txBody>
      </p:sp>
      <p:sp>
        <p:nvSpPr>
          <p:cNvPr id="11" name="Text 7"/>
          <p:cNvSpPr/>
          <p:nvPr/>
        </p:nvSpPr>
        <p:spPr>
          <a:xfrm>
            <a:off x="8226266" y="3625929"/>
            <a:ext cx="5675233" cy="999411"/>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Crucial for forensic analysis, authenticating audio evidence in investigations, and identifying fabricated recordings used in disinformation campaigns.</a:t>
            </a:r>
            <a:endParaRPr lang="en-US" sz="1600"/>
          </a:p>
        </p:txBody>
      </p:sp>
      <p:pic>
        <p:nvPicPr>
          <p:cNvPr id="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8901" y="5041821"/>
            <a:ext cx="520660" cy="520660"/>
          </a:xfrm>
          <a:prstGeom prst="rect">
            <a:avLst/>
          </a:prstGeom>
        </p:spPr>
      </p:pic>
      <p:sp>
        <p:nvSpPr>
          <p:cNvPr id="13" name="Text 8"/>
          <p:cNvSpPr/>
          <p:nvPr/>
        </p:nvSpPr>
        <p:spPr>
          <a:xfrm>
            <a:off x="1509832" y="5165408"/>
            <a:ext cx="3576995" cy="325398"/>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Media Authentication</a:t>
            </a:r>
            <a:endParaRPr lang="en-US" sz="2000"/>
          </a:p>
        </p:txBody>
      </p:sp>
      <p:sp>
        <p:nvSpPr>
          <p:cNvPr id="14" name="Text 9"/>
          <p:cNvSpPr/>
          <p:nvPr/>
        </p:nvSpPr>
        <p:spPr>
          <a:xfrm>
            <a:off x="1509832" y="5615702"/>
            <a:ext cx="5675233" cy="999411"/>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Verifying the authenticity of audio content in news and social media, combating deepfake-driven misinformation and protecting journalistic integrity.</a:t>
            </a:r>
            <a:endParaRPr lang="en-US" sz="1600"/>
          </a:p>
        </p:txBody>
      </p:sp>
      <p:pic>
        <p:nvPicPr>
          <p:cNvPr id="1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45335" y="5041821"/>
            <a:ext cx="520660" cy="520660"/>
          </a:xfrm>
          <a:prstGeom prst="rect">
            <a:avLst/>
          </a:prstGeom>
        </p:spPr>
      </p:pic>
      <p:sp>
        <p:nvSpPr>
          <p:cNvPr id="16" name="Text 10"/>
          <p:cNvSpPr/>
          <p:nvPr/>
        </p:nvSpPr>
        <p:spPr>
          <a:xfrm>
            <a:off x="8226266" y="5165408"/>
            <a:ext cx="2752130" cy="325398"/>
          </a:xfrm>
          <a:prstGeom prst="rect">
            <a:avLst/>
          </a:prstGeom>
          <a:noFill/>
          <a:ln/>
        </p:spPr>
        <p:txBody>
          <a:bodyPr wrap="none" lIns="0" tIns="0" rIns="0" bIns="0" rtlCol="0" anchor="t"/>
          <a:lstStyle/>
          <a:p>
            <a:pPr marL="0" indent="0" algn="l">
              <a:lnSpc>
                <a:spcPts val="2550"/>
              </a:lnSpc>
              <a:buNone/>
            </a:pPr>
            <a:r>
              <a:rPr lang="en-US" sz="2000" b="1">
                <a:solidFill>
                  <a:srgbClr val="333F70"/>
                </a:solidFill>
                <a:latin typeface="Unbounded Bold" pitchFamily="34" charset="0"/>
                <a:ea typeface="Unbounded Bold" pitchFamily="34" charset="-122"/>
                <a:cs typeface="Unbounded Bold" pitchFamily="34" charset="-120"/>
              </a:rPr>
              <a:t>Voice Biometrics</a:t>
            </a:r>
            <a:endParaRPr lang="en-US" sz="2000"/>
          </a:p>
        </p:txBody>
      </p:sp>
      <p:sp>
        <p:nvSpPr>
          <p:cNvPr id="17" name="Text 11"/>
          <p:cNvSpPr/>
          <p:nvPr/>
        </p:nvSpPr>
        <p:spPr>
          <a:xfrm>
            <a:off x="8226266" y="5615702"/>
            <a:ext cx="5675233" cy="999411"/>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Strengthening biometric security in voice authentication systems, preventing sophisticated spoofing attacks and ensuring reliable user verification for access control.</a:t>
            </a:r>
            <a:endParaRPr lang="en-US" sz="1600"/>
          </a:p>
        </p:txBody>
      </p:sp>
      <p:sp>
        <p:nvSpPr>
          <p:cNvPr id="18" name="Text 12"/>
          <p:cNvSpPr/>
          <p:nvPr/>
        </p:nvSpPr>
        <p:spPr>
          <a:xfrm>
            <a:off x="728901" y="6849308"/>
            <a:ext cx="13172599" cy="666274"/>
          </a:xfrm>
          <a:prstGeom prst="rect">
            <a:avLst/>
          </a:prstGeom>
          <a:noFill/>
          <a:ln/>
        </p:spPr>
        <p:txBody>
          <a:bodyPr wrap="square" lIns="0" tIns="0" rIns="0" bIns="0" rtlCol="0" anchor="t"/>
          <a:lstStyle/>
          <a:p>
            <a:pPr marL="0" indent="0" algn="l">
              <a:lnSpc>
                <a:spcPts val="2600"/>
              </a:lnSpc>
              <a:buNone/>
            </a:pPr>
            <a:r>
              <a:rPr lang="en-US" sz="1600">
                <a:solidFill>
                  <a:srgbClr val="333F70"/>
                </a:solidFill>
                <a:latin typeface="Open Sans" pitchFamily="34" charset="0"/>
                <a:ea typeface="Open Sans" pitchFamily="34" charset="-122"/>
                <a:cs typeface="Open Sans" pitchFamily="34" charset="-120"/>
              </a:rPr>
              <a:t>By providing a robust defense against audio deepfakes, SafeTone helps preserve trust in digital communication and protects individuals and institutions from emerging threats.</a:t>
            </a:r>
            <a:endParaRPr lang="en-US"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16374" y="410289"/>
            <a:ext cx="737116" cy="277297"/>
          </a:xfrm>
          <a:prstGeom prst="roundRect">
            <a:avLst>
              <a:gd name="adj" fmla="val 17881"/>
            </a:avLst>
          </a:prstGeom>
          <a:solidFill>
            <a:srgbClr val="D6F5EE"/>
          </a:solidFill>
          <a:ln/>
        </p:spPr>
        <p:txBody>
          <a:bodyPr/>
          <a:lstStyle/>
          <a:p>
            <a:endParaRPr lang="en-US"/>
          </a:p>
        </p:txBody>
      </p:sp>
      <p:sp>
        <p:nvSpPr>
          <p:cNvPr id="3" name="Text 1"/>
          <p:cNvSpPr/>
          <p:nvPr/>
        </p:nvSpPr>
        <p:spPr>
          <a:xfrm>
            <a:off x="604837" y="454462"/>
            <a:ext cx="560189" cy="188952"/>
          </a:xfrm>
          <a:prstGeom prst="rect">
            <a:avLst/>
          </a:prstGeom>
          <a:noFill/>
          <a:ln/>
        </p:spPr>
        <p:txBody>
          <a:bodyPr wrap="none" lIns="0" tIns="0" rIns="0" bIns="0" rtlCol="0" anchor="t"/>
          <a:lstStyle/>
          <a:p>
            <a:pPr marL="0" indent="0" algn="l">
              <a:lnSpc>
                <a:spcPts val="1450"/>
              </a:lnSpc>
              <a:buNone/>
            </a:pPr>
            <a:r>
              <a:rPr lang="en-US" sz="900">
                <a:solidFill>
                  <a:srgbClr val="333F70"/>
                </a:solidFill>
                <a:latin typeface="Open Sans" pitchFamily="34" charset="0"/>
                <a:ea typeface="Open Sans" pitchFamily="34" charset="-122"/>
                <a:cs typeface="Open Sans" pitchFamily="34" charset="-120"/>
              </a:rPr>
              <a:t>OUTLOOK</a:t>
            </a:r>
            <a:endParaRPr lang="en-US" sz="900"/>
          </a:p>
        </p:txBody>
      </p:sp>
      <p:sp>
        <p:nvSpPr>
          <p:cNvPr id="4" name="Text 2"/>
          <p:cNvSpPr/>
          <p:nvPr/>
        </p:nvSpPr>
        <p:spPr>
          <a:xfrm>
            <a:off x="516374" y="746522"/>
            <a:ext cx="10086380" cy="461129"/>
          </a:xfrm>
          <a:prstGeom prst="rect">
            <a:avLst/>
          </a:prstGeom>
          <a:noFill/>
          <a:ln/>
        </p:spPr>
        <p:txBody>
          <a:bodyPr wrap="none" lIns="0" tIns="0" rIns="0" bIns="0" rtlCol="0" anchor="t"/>
          <a:lstStyle/>
          <a:p>
            <a:pPr marL="0" indent="0" algn="l">
              <a:lnSpc>
                <a:spcPts val="3600"/>
              </a:lnSpc>
              <a:buNone/>
            </a:pPr>
            <a:r>
              <a:rPr lang="en-US" sz="2900" b="1">
                <a:solidFill>
                  <a:srgbClr val="333F70"/>
                </a:solidFill>
                <a:latin typeface="Unbounded Bold" pitchFamily="34" charset="0"/>
                <a:ea typeface="Unbounded Bold" pitchFamily="34" charset="-122"/>
                <a:cs typeface="Unbounded Bold" pitchFamily="34" charset="-120"/>
              </a:rPr>
              <a:t>Limitations and Future Research Directions</a:t>
            </a:r>
            <a:endParaRPr lang="en-US" sz="2900"/>
          </a:p>
        </p:txBody>
      </p:sp>
      <p:sp>
        <p:nvSpPr>
          <p:cNvPr id="5" name="Text 3"/>
          <p:cNvSpPr/>
          <p:nvPr/>
        </p:nvSpPr>
        <p:spPr>
          <a:xfrm>
            <a:off x="516374" y="1428988"/>
            <a:ext cx="13597652" cy="471964"/>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While SafeTone demonstrates robust deepfake detection, inherent complexities and the rapid evolution of synthetic audio technology present ongoing challenges and exciting avenues for future exploration.</a:t>
            </a:r>
            <a:endParaRPr lang="en-US" sz="1150"/>
          </a:p>
        </p:txBody>
      </p:sp>
      <p:sp>
        <p:nvSpPr>
          <p:cNvPr id="6" name="Shape 4"/>
          <p:cNvSpPr/>
          <p:nvPr/>
        </p:nvSpPr>
        <p:spPr>
          <a:xfrm>
            <a:off x="516374" y="2066925"/>
            <a:ext cx="4434126" cy="1588413"/>
          </a:xfrm>
          <a:prstGeom prst="roundRect">
            <a:avLst>
              <a:gd name="adj" fmla="val 4605"/>
            </a:avLst>
          </a:prstGeom>
          <a:solidFill>
            <a:srgbClr val="FFFFFF"/>
          </a:solidFill>
          <a:ln w="15240">
            <a:solidFill>
              <a:srgbClr val="BCDBD4"/>
            </a:solidFill>
            <a:prstDash val="solid"/>
          </a:ln>
        </p:spPr>
        <p:txBody>
          <a:bodyPr/>
          <a:lstStyle/>
          <a:p>
            <a:endParaRPr lang="en-US"/>
          </a:p>
        </p:txBody>
      </p:sp>
      <p:sp>
        <p:nvSpPr>
          <p:cNvPr id="7" name="Shape 5"/>
          <p:cNvSpPr/>
          <p:nvPr/>
        </p:nvSpPr>
        <p:spPr>
          <a:xfrm>
            <a:off x="501134" y="2066925"/>
            <a:ext cx="60960" cy="1588413"/>
          </a:xfrm>
          <a:prstGeom prst="roundRect">
            <a:avLst>
              <a:gd name="adj" fmla="val 101670"/>
            </a:avLst>
          </a:prstGeom>
          <a:solidFill>
            <a:srgbClr val="26A688"/>
          </a:solidFill>
          <a:ln/>
        </p:spPr>
        <p:txBody>
          <a:bodyPr/>
          <a:lstStyle/>
          <a:p>
            <a:endParaRPr lang="en-US"/>
          </a:p>
        </p:txBody>
      </p:sp>
      <p:sp>
        <p:nvSpPr>
          <p:cNvPr id="8" name="Text 6"/>
          <p:cNvSpPr/>
          <p:nvPr/>
        </p:nvSpPr>
        <p:spPr>
          <a:xfrm>
            <a:off x="724852" y="2229683"/>
            <a:ext cx="3469481"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Cross-Dataset Generalization</a:t>
            </a:r>
            <a:endParaRPr lang="en-US" sz="1450"/>
          </a:p>
        </p:txBody>
      </p:sp>
      <p:sp>
        <p:nvSpPr>
          <p:cNvPr id="9" name="Text 7"/>
          <p:cNvSpPr/>
          <p:nvPr/>
        </p:nvSpPr>
        <p:spPr>
          <a:xfrm>
            <a:off x="724852" y="2548652"/>
            <a:ext cx="4062889" cy="943927"/>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The model's performance can diminish when encountering audio characteristics significantly different from the training data, highlighting a need for broader domain adaptation.</a:t>
            </a:r>
            <a:endParaRPr lang="en-US" sz="1150"/>
          </a:p>
        </p:txBody>
      </p:sp>
      <p:sp>
        <p:nvSpPr>
          <p:cNvPr id="10" name="Shape 8"/>
          <p:cNvSpPr/>
          <p:nvPr/>
        </p:nvSpPr>
        <p:spPr>
          <a:xfrm>
            <a:off x="5098018" y="2066925"/>
            <a:ext cx="4434245" cy="1588413"/>
          </a:xfrm>
          <a:prstGeom prst="roundRect">
            <a:avLst>
              <a:gd name="adj" fmla="val 4605"/>
            </a:avLst>
          </a:prstGeom>
          <a:solidFill>
            <a:srgbClr val="FFFFFF"/>
          </a:solidFill>
          <a:ln w="15240">
            <a:solidFill>
              <a:srgbClr val="BCDBD4"/>
            </a:solidFill>
            <a:prstDash val="solid"/>
          </a:ln>
        </p:spPr>
        <p:txBody>
          <a:bodyPr/>
          <a:lstStyle/>
          <a:p>
            <a:endParaRPr lang="en-US"/>
          </a:p>
        </p:txBody>
      </p:sp>
      <p:sp>
        <p:nvSpPr>
          <p:cNvPr id="11" name="Shape 9"/>
          <p:cNvSpPr/>
          <p:nvPr/>
        </p:nvSpPr>
        <p:spPr>
          <a:xfrm>
            <a:off x="5082778" y="2066925"/>
            <a:ext cx="60960" cy="1588413"/>
          </a:xfrm>
          <a:prstGeom prst="roundRect">
            <a:avLst>
              <a:gd name="adj" fmla="val 101670"/>
            </a:avLst>
          </a:prstGeom>
          <a:solidFill>
            <a:srgbClr val="26A688"/>
          </a:solidFill>
          <a:ln/>
        </p:spPr>
        <p:txBody>
          <a:bodyPr/>
          <a:lstStyle/>
          <a:p>
            <a:endParaRPr lang="en-US"/>
          </a:p>
        </p:txBody>
      </p:sp>
      <p:sp>
        <p:nvSpPr>
          <p:cNvPr id="12" name="Text 10"/>
          <p:cNvSpPr/>
          <p:nvPr/>
        </p:nvSpPr>
        <p:spPr>
          <a:xfrm>
            <a:off x="5306497" y="2229683"/>
            <a:ext cx="2925366"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Computational Demands</a:t>
            </a:r>
            <a:endParaRPr lang="en-US" sz="1450"/>
          </a:p>
        </p:txBody>
      </p:sp>
      <p:sp>
        <p:nvSpPr>
          <p:cNvPr id="13" name="Text 11"/>
          <p:cNvSpPr/>
          <p:nvPr/>
        </p:nvSpPr>
        <p:spPr>
          <a:xfrm>
            <a:off x="5306497" y="2548652"/>
            <a:ext cx="4063008" cy="707946"/>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Processing high volumes of audio data, especially for real-time applications, requires optimized inference speeds and efficient resource utilization.</a:t>
            </a:r>
            <a:endParaRPr lang="en-US" sz="1150"/>
          </a:p>
        </p:txBody>
      </p:sp>
      <p:sp>
        <p:nvSpPr>
          <p:cNvPr id="14" name="Shape 12"/>
          <p:cNvSpPr/>
          <p:nvPr/>
        </p:nvSpPr>
        <p:spPr>
          <a:xfrm>
            <a:off x="9679781" y="2066925"/>
            <a:ext cx="4434245" cy="1588413"/>
          </a:xfrm>
          <a:prstGeom prst="roundRect">
            <a:avLst>
              <a:gd name="adj" fmla="val 4605"/>
            </a:avLst>
          </a:prstGeom>
          <a:solidFill>
            <a:srgbClr val="FFFFFF"/>
          </a:solidFill>
          <a:ln w="15240">
            <a:solidFill>
              <a:srgbClr val="BCDBD4"/>
            </a:solidFill>
            <a:prstDash val="solid"/>
          </a:ln>
        </p:spPr>
        <p:txBody>
          <a:bodyPr/>
          <a:lstStyle/>
          <a:p>
            <a:endParaRPr lang="en-US"/>
          </a:p>
        </p:txBody>
      </p:sp>
      <p:sp>
        <p:nvSpPr>
          <p:cNvPr id="15" name="Shape 13"/>
          <p:cNvSpPr/>
          <p:nvPr/>
        </p:nvSpPr>
        <p:spPr>
          <a:xfrm>
            <a:off x="9664541" y="2066925"/>
            <a:ext cx="60960" cy="1588413"/>
          </a:xfrm>
          <a:prstGeom prst="roundRect">
            <a:avLst>
              <a:gd name="adj" fmla="val 101670"/>
            </a:avLst>
          </a:prstGeom>
          <a:solidFill>
            <a:srgbClr val="26A688"/>
          </a:solidFill>
          <a:ln/>
        </p:spPr>
        <p:txBody>
          <a:bodyPr/>
          <a:lstStyle/>
          <a:p>
            <a:endParaRPr lang="en-US"/>
          </a:p>
        </p:txBody>
      </p:sp>
      <p:sp>
        <p:nvSpPr>
          <p:cNvPr id="16" name="Text 14"/>
          <p:cNvSpPr/>
          <p:nvPr/>
        </p:nvSpPr>
        <p:spPr>
          <a:xfrm>
            <a:off x="9888260" y="2229683"/>
            <a:ext cx="3159800"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Evolving Threat Landscape</a:t>
            </a:r>
            <a:endParaRPr lang="en-US" sz="1450"/>
          </a:p>
        </p:txBody>
      </p:sp>
      <p:sp>
        <p:nvSpPr>
          <p:cNvPr id="17" name="Text 15"/>
          <p:cNvSpPr/>
          <p:nvPr/>
        </p:nvSpPr>
        <p:spPr>
          <a:xfrm>
            <a:off x="9888260" y="2548652"/>
            <a:ext cx="4063008" cy="707946"/>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The continuous improvement in deepfake generation techniques necessitates ongoing model updates and research into more adaptive detection mechanisms.</a:t>
            </a:r>
            <a:endParaRPr lang="en-US" sz="1150"/>
          </a:p>
        </p:txBody>
      </p:sp>
      <p:sp>
        <p:nvSpPr>
          <p:cNvPr id="18" name="Text 16"/>
          <p:cNvSpPr/>
          <p:nvPr/>
        </p:nvSpPr>
        <p:spPr>
          <a:xfrm>
            <a:off x="516374" y="3876675"/>
            <a:ext cx="5368885" cy="368856"/>
          </a:xfrm>
          <a:prstGeom prst="rect">
            <a:avLst/>
          </a:prstGeom>
          <a:noFill/>
          <a:ln/>
        </p:spPr>
        <p:txBody>
          <a:bodyPr wrap="none" lIns="0" tIns="0" rIns="0" bIns="0" rtlCol="0" anchor="t"/>
          <a:lstStyle/>
          <a:p>
            <a:pPr marL="0" indent="0" algn="l">
              <a:lnSpc>
                <a:spcPts val="2900"/>
              </a:lnSpc>
              <a:buNone/>
            </a:pPr>
            <a:r>
              <a:rPr lang="en-US" sz="2300" b="1">
                <a:solidFill>
                  <a:srgbClr val="333F70"/>
                </a:solidFill>
                <a:latin typeface="Unbounded Bold" pitchFamily="34" charset="0"/>
                <a:ea typeface="Unbounded Bold" pitchFamily="34" charset="-122"/>
                <a:cs typeface="Unbounded Bold" pitchFamily="34" charset="-120"/>
              </a:rPr>
              <a:t>Strategic Research Priorities</a:t>
            </a:r>
            <a:endParaRPr lang="en-US" sz="2300"/>
          </a:p>
        </p:txBody>
      </p:sp>
      <p:pic>
        <p:nvPicPr>
          <p:cNvPr id="19" name="Image 0" descr="preencoded.png"/>
          <p:cNvPicPr>
            <a:picLocks noChangeAspect="1"/>
          </p:cNvPicPr>
          <p:nvPr/>
        </p:nvPicPr>
        <p:blipFill>
          <a:blip r:embed="rId3"/>
          <a:stretch>
            <a:fillRect/>
          </a:stretch>
        </p:blipFill>
        <p:spPr>
          <a:xfrm>
            <a:off x="516374" y="4466868"/>
            <a:ext cx="6798826" cy="590193"/>
          </a:xfrm>
          <a:prstGeom prst="rect">
            <a:avLst/>
          </a:prstGeom>
        </p:spPr>
      </p:pic>
      <p:sp>
        <p:nvSpPr>
          <p:cNvPr id="20" name="Text 17"/>
          <p:cNvSpPr/>
          <p:nvPr/>
        </p:nvSpPr>
        <p:spPr>
          <a:xfrm>
            <a:off x="663893" y="5204579"/>
            <a:ext cx="2026920"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Expand Datasets</a:t>
            </a:r>
            <a:endParaRPr lang="en-US" sz="1450"/>
          </a:p>
        </p:txBody>
      </p:sp>
      <p:sp>
        <p:nvSpPr>
          <p:cNvPr id="21" name="Text 18"/>
          <p:cNvSpPr/>
          <p:nvPr/>
        </p:nvSpPr>
        <p:spPr>
          <a:xfrm>
            <a:off x="663893" y="5523548"/>
            <a:ext cx="6503789" cy="471964"/>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Incorporate larger, more diverse audio corpora to enhance robustness and reduce bias across various acoustic environments and speaker demographics.</a:t>
            </a:r>
            <a:endParaRPr lang="en-US" sz="1150"/>
          </a:p>
        </p:txBody>
      </p:sp>
      <p:pic>
        <p:nvPicPr>
          <p:cNvPr id="22" name="Image 1" descr="preencoded.png"/>
          <p:cNvPicPr>
            <a:picLocks noChangeAspect="1"/>
          </p:cNvPicPr>
          <p:nvPr/>
        </p:nvPicPr>
        <p:blipFill>
          <a:blip r:embed="rId4"/>
          <a:stretch>
            <a:fillRect/>
          </a:stretch>
        </p:blipFill>
        <p:spPr>
          <a:xfrm>
            <a:off x="7315200" y="4466868"/>
            <a:ext cx="6798826" cy="590193"/>
          </a:xfrm>
          <a:prstGeom prst="rect">
            <a:avLst/>
          </a:prstGeom>
        </p:spPr>
      </p:pic>
      <p:sp>
        <p:nvSpPr>
          <p:cNvPr id="23" name="Text 19"/>
          <p:cNvSpPr/>
          <p:nvPr/>
        </p:nvSpPr>
        <p:spPr>
          <a:xfrm>
            <a:off x="7462718" y="5204579"/>
            <a:ext cx="2834402"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Multi-Language Support</a:t>
            </a:r>
            <a:endParaRPr lang="en-US" sz="1450"/>
          </a:p>
        </p:txBody>
      </p:sp>
      <p:sp>
        <p:nvSpPr>
          <p:cNvPr id="24" name="Text 20"/>
          <p:cNvSpPr/>
          <p:nvPr/>
        </p:nvSpPr>
        <p:spPr>
          <a:xfrm>
            <a:off x="7462718" y="5523548"/>
            <a:ext cx="6503789" cy="471964"/>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Develop detection capabilities that are effective across numerous languages, addressing the global nature of audio deepfake threats.</a:t>
            </a:r>
            <a:endParaRPr lang="en-US" sz="1150"/>
          </a:p>
        </p:txBody>
      </p:sp>
      <p:pic>
        <p:nvPicPr>
          <p:cNvPr id="25" name="Image 2" descr="preencoded.png"/>
          <p:cNvPicPr>
            <a:picLocks noChangeAspect="1"/>
          </p:cNvPicPr>
          <p:nvPr/>
        </p:nvPicPr>
        <p:blipFill>
          <a:blip r:embed="rId5"/>
          <a:stretch>
            <a:fillRect/>
          </a:stretch>
        </p:blipFill>
        <p:spPr>
          <a:xfrm>
            <a:off x="516374" y="6143030"/>
            <a:ext cx="6798826" cy="590193"/>
          </a:xfrm>
          <a:prstGeom prst="rect">
            <a:avLst/>
          </a:prstGeom>
        </p:spPr>
      </p:pic>
      <p:sp>
        <p:nvSpPr>
          <p:cNvPr id="26" name="Text 21"/>
          <p:cNvSpPr/>
          <p:nvPr/>
        </p:nvSpPr>
        <p:spPr>
          <a:xfrm>
            <a:off x="663893" y="6880741"/>
            <a:ext cx="2437686"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Real-time Processing</a:t>
            </a:r>
            <a:endParaRPr lang="en-US" sz="1450"/>
          </a:p>
        </p:txBody>
      </p:sp>
      <p:sp>
        <p:nvSpPr>
          <p:cNvPr id="27" name="Text 22"/>
          <p:cNvSpPr/>
          <p:nvPr/>
        </p:nvSpPr>
        <p:spPr>
          <a:xfrm>
            <a:off x="663893" y="7199709"/>
            <a:ext cx="6503789" cy="471964"/>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Optimize the model for near-instantaneous detection, crucial for live communication platforms and dynamic threat environments.</a:t>
            </a:r>
            <a:endParaRPr lang="en-US" sz="1150"/>
          </a:p>
        </p:txBody>
      </p:sp>
      <p:pic>
        <p:nvPicPr>
          <p:cNvPr id="28" name="Image 3" descr="preencoded.png"/>
          <p:cNvPicPr>
            <a:picLocks noChangeAspect="1"/>
          </p:cNvPicPr>
          <p:nvPr/>
        </p:nvPicPr>
        <p:blipFill>
          <a:blip r:embed="rId6"/>
          <a:stretch>
            <a:fillRect/>
          </a:stretch>
        </p:blipFill>
        <p:spPr>
          <a:xfrm>
            <a:off x="7315200" y="6143030"/>
            <a:ext cx="6798826" cy="590193"/>
          </a:xfrm>
          <a:prstGeom prst="rect">
            <a:avLst/>
          </a:prstGeom>
        </p:spPr>
      </p:pic>
      <p:sp>
        <p:nvSpPr>
          <p:cNvPr id="29" name="Text 23"/>
          <p:cNvSpPr/>
          <p:nvPr/>
        </p:nvSpPr>
        <p:spPr>
          <a:xfrm>
            <a:off x="7462718" y="6880741"/>
            <a:ext cx="2698313" cy="230505"/>
          </a:xfrm>
          <a:prstGeom prst="rect">
            <a:avLst/>
          </a:prstGeom>
          <a:noFill/>
          <a:ln/>
        </p:spPr>
        <p:txBody>
          <a:bodyPr wrap="none" lIns="0" tIns="0" rIns="0" bIns="0" rtlCol="0" anchor="t"/>
          <a:lstStyle/>
          <a:p>
            <a:pPr marL="0" indent="0" algn="l">
              <a:lnSpc>
                <a:spcPts val="1800"/>
              </a:lnSpc>
              <a:buNone/>
            </a:pPr>
            <a:r>
              <a:rPr lang="en-US" sz="1450" b="1">
                <a:solidFill>
                  <a:srgbClr val="333F70"/>
                </a:solidFill>
                <a:latin typeface="Unbounded Bold" pitchFamily="34" charset="0"/>
                <a:ea typeface="Unbounded Bold" pitchFamily="34" charset="-122"/>
                <a:cs typeface="Unbounded Bold" pitchFamily="34" charset="-120"/>
              </a:rPr>
              <a:t>Ensemble &amp; Integration</a:t>
            </a:r>
            <a:endParaRPr lang="en-US" sz="1450"/>
          </a:p>
        </p:txBody>
      </p:sp>
      <p:sp>
        <p:nvSpPr>
          <p:cNvPr id="30" name="Text 24"/>
          <p:cNvSpPr/>
          <p:nvPr/>
        </p:nvSpPr>
        <p:spPr>
          <a:xfrm>
            <a:off x="7462718" y="7199709"/>
            <a:ext cx="6503789" cy="471964"/>
          </a:xfrm>
          <a:prstGeom prst="rect">
            <a:avLst/>
          </a:prstGeom>
          <a:noFill/>
          <a:ln/>
        </p:spPr>
        <p:txBody>
          <a:bodyPr wrap="square" lIns="0" tIns="0" rIns="0" bIns="0" rtlCol="0" anchor="t"/>
          <a:lstStyle/>
          <a:p>
            <a:pPr marL="0" indent="0" algn="l">
              <a:lnSpc>
                <a:spcPts val="1850"/>
              </a:lnSpc>
              <a:buNone/>
            </a:pPr>
            <a:r>
              <a:rPr lang="en-US" sz="1150">
                <a:solidFill>
                  <a:srgbClr val="333F70"/>
                </a:solidFill>
                <a:latin typeface="Open Sans" pitchFamily="34" charset="0"/>
                <a:ea typeface="Open Sans" pitchFamily="34" charset="-122"/>
                <a:cs typeface="Open Sans" pitchFamily="34" charset="-120"/>
              </a:rPr>
              <a:t>Explore combining SafeTone with other detection methods or integrating with speaker verification systems for enhanced accuracy and reliability.</a:t>
            </a:r>
            <a:endParaRPr lang="en-US" sz="11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6C53E2F0A778D448D3E40741CC7AD8A" ma:contentTypeVersion="3" ma:contentTypeDescription="Create a new document." ma:contentTypeScope="" ma:versionID="bfa3478b8f44ae059acaea17e1608c13">
  <xsd:schema xmlns:xsd="http://www.w3.org/2001/XMLSchema" xmlns:xs="http://www.w3.org/2001/XMLSchema" xmlns:p="http://schemas.microsoft.com/office/2006/metadata/properties" xmlns:ns2="3502940e-a24c-4cf0-a9d6-27a6bef11516" targetNamespace="http://schemas.microsoft.com/office/2006/metadata/properties" ma:root="true" ma:fieldsID="b755f78bfb3e9ea300a9b9ee93204f04" ns2:_="">
    <xsd:import namespace="3502940e-a24c-4cf0-a9d6-27a6bef11516"/>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502940e-a24c-4cf0-a9d6-27a6bef115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F31B37-FC6E-4258-9A7A-AA6192FAE34B}">
  <ds:schemaRefs>
    <ds:schemaRef ds:uri="http://schemas.microsoft.com/sharepoint/v3/contenttype/forms"/>
  </ds:schemaRefs>
</ds:datastoreItem>
</file>

<file path=customXml/itemProps2.xml><?xml version="1.0" encoding="utf-8"?>
<ds:datastoreItem xmlns:ds="http://schemas.openxmlformats.org/officeDocument/2006/customXml" ds:itemID="{C9BD62A6-6934-427A-B69A-28F66A004888}">
  <ds:schemaRefs>
    <ds:schemaRef ds:uri="3502940e-a24c-4cf0-a9d6-27a6bef1151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BF3D36F-3B7C-4F71-9356-B0733F0476BB}">
  <ds:schemaRefs>
    <ds:schemaRef ds:uri="http://schemas.microsoft.com/office/2006/documentManagement/types"/>
    <ds:schemaRef ds:uri="3502940e-a24c-4cf0-a9d6-27a6bef11516"/>
    <ds:schemaRef ds:uri="http://schemas.openxmlformats.org/package/2006/metadata/core-properties"/>
    <ds:schemaRef ds:uri="http://schemas.microsoft.com/office/2006/metadata/properties"/>
    <ds:schemaRef ds:uri="http://purl.org/dc/terms/"/>
    <ds:schemaRef ds:uri="http://purl.org/dc/dcmitype/"/>
    <ds:schemaRef ds:uri="http://purl.org/dc/elements/1.1/"/>
    <ds:schemaRef ds:uri="http://schemas.microsoft.com/office/infopath/2007/PartnerControl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0</TotalTime>
  <Words>1566</Words>
  <Application>Microsoft Office PowerPoint</Application>
  <PresentationFormat>Custom</PresentationFormat>
  <Paragraphs>176</Paragraphs>
  <Slides>14</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Unbounded Light</vt:lpstr>
      <vt:lpstr>Open Sans</vt:lpstr>
      <vt:lpstr>Arial</vt:lpstr>
      <vt:lpstr>Unbounded Bold</vt:lpstr>
      <vt:lpstr>monospace</vt:lpstr>
      <vt:lpstr>Calibri</vt:lpstr>
      <vt:lpstr>Aptos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zaid</dc:creator>
  <cp:lastModifiedBy>زيد الدين علي بسام الفقيه</cp:lastModifiedBy>
  <cp:revision>2</cp:revision>
  <dcterms:created xsi:type="dcterms:W3CDTF">2026-01-04T17:21:55Z</dcterms:created>
  <dcterms:modified xsi:type="dcterms:W3CDTF">2026-01-10T11:19:33Z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0x010100B6C53E2F0A778D448D3E40741CC7AD8A</vt:lpwstr>
  </property>
</Properties>
</file>